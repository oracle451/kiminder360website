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Proxima Nova"/>
      <p:regular r:id="rId15"/>
      <p:bold r:id="rId16"/>
      <p:italic r:id="rId17"/>
      <p:boldItalic r:id="rId18"/>
    </p:embeddedFont>
    <p:embeddedFont>
      <p:font typeface="Robo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747775"/>
          </p15:clr>
        </p15:guide>
        <p15:guide id="2" pos="4320">
          <p15:clr>
            <a:srgbClr val="747775"/>
          </p15:clr>
        </p15:guide>
        <p15:guide id="3" pos="144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 pos="4320"/>
        <p:guide pos="14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11" Type="http://schemas.openxmlformats.org/officeDocument/2006/relationships/slide" Target="slides/slide6.xml"/><Relationship Id="rId22" Type="http://schemas.openxmlformats.org/officeDocument/2006/relationships/font" Target="fonts/Roboto-boldItalic.fntdata"/><Relationship Id="rId10" Type="http://schemas.openxmlformats.org/officeDocument/2006/relationships/slide" Target="slides/slide5.xml"/><Relationship Id="rId21" Type="http://schemas.openxmlformats.org/officeDocument/2006/relationships/font" Target="fonts/Roboto-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ProximaNova-regular.fntdata"/><Relationship Id="rId14" Type="http://schemas.openxmlformats.org/officeDocument/2006/relationships/slide" Target="slides/slide9.xml"/><Relationship Id="rId17" Type="http://schemas.openxmlformats.org/officeDocument/2006/relationships/font" Target="fonts/ProximaNova-italic.fntdata"/><Relationship Id="rId16" Type="http://schemas.openxmlformats.org/officeDocument/2006/relationships/font" Target="fonts/ProximaNova-bold.fntdata"/><Relationship Id="rId5" Type="http://schemas.openxmlformats.org/officeDocument/2006/relationships/notesMaster" Target="notesMasters/notesMaster1.xml"/><Relationship Id="rId19" Type="http://schemas.openxmlformats.org/officeDocument/2006/relationships/font" Target="fonts/Roboto-regular.fntdata"/><Relationship Id="rId6" Type="http://schemas.openxmlformats.org/officeDocument/2006/relationships/slide" Target="slides/slide1.xml"/><Relationship Id="rId18" Type="http://schemas.openxmlformats.org/officeDocument/2006/relationships/font" Target="fonts/ProximaNova-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Hello, we are the KIMinder360 team. I’m Cole Bishop. I’m Dylan Hyer. I’m Nyle Huntley. I’m Mayanna John.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Client is Morgan Boatman, the founder of Winter Communication LLC and our Team Mentor is Nazmul Hossain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project focuses on transforming manual situational awareness training into an automated and scalable mobile app.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With this approach we aim to improve </a:t>
            </a:r>
            <a:r>
              <a:rPr lang="en"/>
              <a:t>environmental</a:t>
            </a:r>
            <a:r>
              <a:rPr lang="en"/>
              <a:t> awareness and emergency preparedness through automated directives delivered via a smartphone app.</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8000c47c7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8000c47c7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Modern society shows a growing need for situational awareness, people are constantly distracted by their phones while in public and often pay no attention to their surroundings.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Practicing situational awareness and being more </a:t>
            </a:r>
            <a:r>
              <a:rPr lang="en"/>
              <a:t>conscious</a:t>
            </a:r>
            <a:r>
              <a:rPr lang="en"/>
              <a:t> of your surroundings can help you be more prepared for emergencies and better at noticing details that you would otherwise miss.</a:t>
            </a:r>
            <a:br>
              <a:rPr lang="en"/>
            </a:br>
            <a:br>
              <a:rPr lang="en"/>
            </a:br>
            <a:r>
              <a:rPr lang="en"/>
              <a:t>Most wellness and mindfulness apps are focused on self reflection and fitness, not building active awareness skills, meaning that no tool exists for continuous situational awareness training.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client, Morgan Boatman has attempted to solve this in the past with gamified experiences like KIMinder360 which revolves around short tasks called directives that encourage people to pay attention to their surroundings.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previous implementation of KIMinder360 relied on the manual distribution of directives to users through direct contact from Morgan.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major pain point of this approach is the lack of automation. There was no way to automatically choose a directive, </a:t>
            </a:r>
            <a:r>
              <a:rPr lang="en"/>
              <a:t>schedule</a:t>
            </a:r>
            <a:r>
              <a:rPr lang="en"/>
              <a:t> it to go out at a specific time, and send it. All of this had to be done by hand making it difficult to scale for more users as the workload would increase with user count.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8000c47c7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8000c47c7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Our solution, KIMinder360, is a mobile application designed to completely automate the directive delivery process for our client. </a:t>
            </a:r>
            <a:br>
              <a:rPr lang="en">
                <a:solidFill>
                  <a:schemeClr val="dk1"/>
                </a:solidFill>
              </a:rPr>
            </a:br>
            <a:r>
              <a:rPr lang="en">
                <a:solidFill>
                  <a:schemeClr val="dk1"/>
                </a:solidFill>
              </a:rPr>
              <a:t>Rather than relying on manual phone calls like Cole mentioned, KIMinder360 will send real-world situational awareness directives straight to users’ phones through push notifications. </a:t>
            </a:r>
            <a:br>
              <a:rPr lang="en">
                <a:solidFill>
                  <a:schemeClr val="dk1"/>
                </a:solidFill>
              </a:rPr>
            </a:br>
            <a:r>
              <a:rPr lang="en">
                <a:solidFill>
                  <a:schemeClr val="dk1"/>
                </a:solidFill>
              </a:rPr>
              <a:t>Users will simply be able to download the app, choose which training categories they’re interested in, and set their preferred action windows, the times of day they’d like to receive reminders. </a:t>
            </a:r>
            <a:br>
              <a:rPr lang="en">
                <a:solidFill>
                  <a:schemeClr val="dk1"/>
                </a:solidFill>
              </a:rPr>
            </a:br>
            <a:r>
              <a:rPr lang="en">
                <a:solidFill>
                  <a:schemeClr val="dk1"/>
                </a:solidFill>
              </a:rPr>
              <a:t>From there, the app will automatically handle the rest, sending randomized directives that will usually take just a few moments to complete but encourage consistent mindfulness habits over time. </a:t>
            </a:r>
            <a:br>
              <a:rPr lang="en">
                <a:solidFill>
                  <a:schemeClr val="dk1"/>
                </a:solidFill>
              </a:rPr>
            </a:br>
            <a:r>
              <a:rPr lang="en">
                <a:solidFill>
                  <a:schemeClr val="dk1"/>
                </a:solidFill>
              </a:rPr>
              <a:t>And since all directive data will be stored locally, the app will work fully offline, allowing users to train anytime, anywhere.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a21776a76a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a21776a76a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Each of KIMinder360’s core features directly improves on the original manual process. </a:t>
            </a:r>
            <a:br>
              <a:rPr lang="en">
                <a:solidFill>
                  <a:schemeClr val="dk1"/>
                </a:solidFill>
              </a:rPr>
            </a:br>
            <a:r>
              <a:rPr lang="en">
                <a:solidFill>
                  <a:schemeClr val="dk1"/>
                </a:solidFill>
              </a:rPr>
              <a:t>Firstly, those daily phone calls are replaced with automated </a:t>
            </a:r>
            <a:r>
              <a:rPr lang="en">
                <a:solidFill>
                  <a:schemeClr val="dk1"/>
                </a:solidFill>
              </a:rPr>
              <a:t>push notifications, completely eliminating the time consuming manual process. </a:t>
            </a:r>
            <a:br>
              <a:rPr lang="en">
                <a:solidFill>
                  <a:schemeClr val="dk1"/>
                </a:solidFill>
              </a:rPr>
            </a:br>
            <a:r>
              <a:rPr lang="en">
                <a:solidFill>
                  <a:schemeClr val="dk1"/>
                </a:solidFill>
              </a:rPr>
              <a:t>Next, the category and action window settings give users full customizability over the training experience, something that previously wasn’t feasible.</a:t>
            </a:r>
            <a:br>
              <a:rPr lang="en">
                <a:solidFill>
                  <a:schemeClr val="dk1"/>
                </a:solidFill>
              </a:rPr>
            </a:br>
            <a:r>
              <a:rPr lang="en">
                <a:solidFill>
                  <a:schemeClr val="dk1"/>
                </a:solidFill>
              </a:rPr>
              <a:t>And lastly, the randomized directive system keeps the training experience fresh and engaging, ensuring no directives are repeated within too short a time span. </a:t>
            </a:r>
            <a:br>
              <a:rPr lang="en">
                <a:solidFill>
                  <a:schemeClr val="dk1"/>
                </a:solidFill>
              </a:rPr>
            </a:br>
            <a:r>
              <a:rPr lang="en">
                <a:solidFill>
                  <a:schemeClr val="dk1"/>
                </a:solidFill>
              </a:rPr>
              <a:t>Altogether, these features make an app that fits perfectly into modern routines, helps train these critical, life saving skills, and is accessible to anybody with a smartphone.</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8000c47c71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8000c47c7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t>
            </a:r>
            <a:r>
              <a:rPr lang="en"/>
              <a:t>ey Requirements (~2.5-3.5 minutes)</a:t>
            </a:r>
            <a:endParaRPr/>
          </a:p>
          <a:p>
            <a:pPr indent="-298450" lvl="0" marL="457200" rtl="0" algn="l">
              <a:spcBef>
                <a:spcPts val="0"/>
              </a:spcBef>
              <a:spcAft>
                <a:spcPts val="0"/>
              </a:spcAft>
              <a:buSzPts val="1100"/>
              <a:buChar char="-"/>
            </a:pPr>
            <a:r>
              <a:rPr lang="en"/>
              <a:t>Explain how you gathered the project’s requirements (e.g., client meetings, site visits, document analysis).</a:t>
            </a:r>
            <a:endParaRPr/>
          </a:p>
          <a:p>
            <a:pPr indent="-298450" lvl="0" marL="457200" rtl="0" algn="l">
              <a:spcBef>
                <a:spcPts val="0"/>
              </a:spcBef>
              <a:spcAft>
                <a:spcPts val="0"/>
              </a:spcAft>
              <a:buSzPts val="1100"/>
              <a:buChar char="-"/>
            </a:pPr>
            <a:r>
              <a:rPr lang="en"/>
              <a:t>Highlight the most important user and functional requirements (i.e., the MVP).</a:t>
            </a:r>
            <a:endParaRPr/>
          </a:p>
          <a:p>
            <a:pPr indent="-298450" lvl="0" marL="457200" rtl="0" algn="l">
              <a:spcBef>
                <a:spcPts val="0"/>
              </a:spcBef>
              <a:spcAft>
                <a:spcPts val="0"/>
              </a:spcAft>
              <a:buSzPts val="1100"/>
              <a:buChar char="-"/>
            </a:pPr>
            <a:r>
              <a:rPr lang="en"/>
              <a:t>Choose one high-level requirement to demonstrate how it breaks down into detailed sub-requirements.</a:t>
            </a:r>
            <a:endParaRPr/>
          </a:p>
          <a:p>
            <a:pPr indent="-298450" lvl="0" marL="457200" rtl="0" algn="l">
              <a:spcBef>
                <a:spcPts val="0"/>
              </a:spcBef>
              <a:spcAft>
                <a:spcPts val="0"/>
              </a:spcAft>
              <a:buSzPts val="1100"/>
              <a:buChar char="-"/>
            </a:pPr>
            <a:r>
              <a:rPr lang="en"/>
              <a:t>Conclude by mentioning that requirements will evolve, but emphasize the strength of your initial baseline.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a2c99cfc9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a2c99cfc9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Risks and Feasibility (~1.5 minutes)</a:t>
            </a:r>
            <a:endParaRPr/>
          </a:p>
          <a:p>
            <a:pPr indent="-298450" lvl="0" marL="457200" rtl="0" algn="l">
              <a:spcBef>
                <a:spcPts val="0"/>
              </a:spcBef>
              <a:spcAft>
                <a:spcPts val="0"/>
              </a:spcAft>
              <a:buSzPts val="1100"/>
              <a:buChar char="-"/>
            </a:pPr>
            <a:r>
              <a:rPr lang="en"/>
              <a:t>Summarize the main project risks and your mitigation strategies.</a:t>
            </a:r>
            <a:endParaRPr/>
          </a:p>
          <a:p>
            <a:pPr indent="-298450" lvl="0" marL="457200" rtl="0" algn="l">
              <a:spcBef>
                <a:spcPts val="0"/>
              </a:spcBef>
              <a:spcAft>
                <a:spcPts val="0"/>
              </a:spcAft>
              <a:buSzPts val="1100"/>
              <a:buChar char="-"/>
            </a:pPr>
            <a:r>
              <a:rPr lang="en"/>
              <a:t>Briefly discuss any feasibility analyses you conducted, outlining critical findings.</a:t>
            </a:r>
            <a:endParaRPr/>
          </a:p>
          <a:p>
            <a:pPr indent="-298450" lvl="0" marL="457200" rtl="0" algn="l">
              <a:spcBef>
                <a:spcPts val="0"/>
              </a:spcBef>
              <a:spcAft>
                <a:spcPts val="0"/>
              </a:spcAft>
              <a:buSzPts val="1100"/>
              <a:buChar char="-"/>
            </a:pPr>
            <a:r>
              <a:rPr lang="en"/>
              <a:t>Focus on risks relevant to the project and client, avoiding personal or team-centric risks.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8000c47c7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8000c47c7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Schedule (~30 seconds)</a:t>
            </a:r>
            <a:endParaRPr/>
          </a:p>
          <a:p>
            <a:pPr indent="-298450" lvl="0" marL="457200" rtl="0" algn="l">
              <a:spcBef>
                <a:spcPts val="0"/>
              </a:spcBef>
              <a:spcAft>
                <a:spcPts val="0"/>
              </a:spcAft>
              <a:buSzPts val="1100"/>
              <a:buChar char="-"/>
            </a:pPr>
            <a:r>
              <a:rPr lang="en"/>
              <a:t>Present a brief overview of your project timeline using a visual like a Gantt chart.</a:t>
            </a:r>
            <a:endParaRPr/>
          </a:p>
          <a:p>
            <a:pPr indent="-298450" lvl="0" marL="457200" rtl="0" algn="l">
              <a:spcBef>
                <a:spcPts val="0"/>
              </a:spcBef>
              <a:spcAft>
                <a:spcPts val="0"/>
              </a:spcAft>
              <a:buSzPts val="1100"/>
              <a:buChar char="-"/>
            </a:pPr>
            <a:r>
              <a:rPr lang="en"/>
              <a:t>Indicate completed milestones and upcoming tasks, noting your current project status.</a:t>
            </a:r>
            <a:endParaRPr/>
          </a:p>
          <a:p>
            <a:pPr indent="-298450" lvl="0" marL="457200" rtl="0" algn="l">
              <a:spcBef>
                <a:spcPts val="0"/>
              </a:spcBef>
              <a:spcAft>
                <a:spcPts val="0"/>
              </a:spcAft>
              <a:buSzPts val="1100"/>
              <a:buChar char="-"/>
            </a:pPr>
            <a:r>
              <a:rPr lang="en"/>
              <a:t>Make a succinct statement about your progress, whether you are on track or have areas needing attention.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99ec08555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99ec08555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In conclusion we aim to solve the problem of scalability faced by the previous iteration of KIMinder360 by creating an app that automates awareness training.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By doing this we can significantly reduce the workload on our client that would come with a larger KIMinder360 user base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And make situational awareness training more accessible for all to result in a world where being aware is commonplace.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major requirements of this app are push notifications, category selection, a database of directives and active hours customization.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We are confident in our ability to deliver on our promises thanks to extensive preparation we have done in planning every aspect of the eventual implementation.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Going forward we will begin developing our must have functional requirements in close cooperation with our client Morgan to ensure each aspect of the application is built according to his vision.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8000c47c71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8000c47c7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 If you have any questions please feel free to ask now</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0.jpg"/><Relationship Id="rId5" Type="http://schemas.openxmlformats.org/officeDocument/2006/relationships/image" Target="../media/image12.jpg"/><Relationship Id="rId6" Type="http://schemas.openxmlformats.org/officeDocument/2006/relationships/image" Target="../media/image11.jpg"/><Relationship Id="rId7" Type="http://schemas.openxmlformats.org/officeDocument/2006/relationships/image" Target="../media/image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image" Target="../media/image8.jp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0.jpg"/><Relationship Id="rId5" Type="http://schemas.openxmlformats.org/officeDocument/2006/relationships/image" Target="../media/image12.jpg"/><Relationship Id="rId6" Type="http://schemas.openxmlformats.org/officeDocument/2006/relationships/image" Target="../media/image11.jpg"/><Relationship Id="rId7"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0450" y="271975"/>
            <a:ext cx="8123100" cy="1580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KIMinder360 Mobile App:</a:t>
            </a:r>
            <a:endParaRPr/>
          </a:p>
          <a:p>
            <a:pPr indent="0" lvl="0" marL="0" rtl="0" algn="l">
              <a:spcBef>
                <a:spcPts val="0"/>
              </a:spcBef>
              <a:spcAft>
                <a:spcPts val="0"/>
              </a:spcAft>
              <a:buNone/>
            </a:pPr>
            <a:r>
              <a:rPr lang="en"/>
              <a:t>Design Review</a:t>
            </a:r>
            <a:endParaRPr/>
          </a:p>
        </p:txBody>
      </p:sp>
      <p:sp>
        <p:nvSpPr>
          <p:cNvPr id="60" name="Google Shape;60;p13"/>
          <p:cNvSpPr txBox="1"/>
          <p:nvPr>
            <p:ph idx="1" type="subTitle"/>
          </p:nvPr>
        </p:nvSpPr>
        <p:spPr>
          <a:xfrm>
            <a:off x="535825" y="2014988"/>
            <a:ext cx="5198400" cy="4470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Team Mentor: Md Nazmul Hossain</a:t>
            </a:r>
            <a:endParaRPr/>
          </a:p>
        </p:txBody>
      </p:sp>
      <p:pic>
        <p:nvPicPr>
          <p:cNvPr id="61" name="Google Shape;61;p13" title="ChatGPT Image Sep 5, 2025, 02_07_15 PM.png"/>
          <p:cNvPicPr preferRelativeResize="0"/>
          <p:nvPr/>
        </p:nvPicPr>
        <p:blipFill>
          <a:blip r:embed="rId3">
            <a:alphaModFix/>
          </a:blip>
          <a:stretch>
            <a:fillRect/>
          </a:stretch>
        </p:blipFill>
        <p:spPr>
          <a:xfrm>
            <a:off x="6884550" y="401625"/>
            <a:ext cx="1749000" cy="1749000"/>
          </a:xfrm>
          <a:prstGeom prst="roundRect">
            <a:avLst>
              <a:gd fmla="val 16667" name="adj"/>
            </a:avLst>
          </a:prstGeom>
          <a:noFill/>
          <a:ln cap="flat" cmpd="sng" w="38100">
            <a:solidFill>
              <a:schemeClr val="dk2"/>
            </a:solidFill>
            <a:prstDash val="solid"/>
            <a:round/>
            <a:headEnd len="sm" w="sm" type="none"/>
            <a:tailEnd len="sm" w="sm" type="none"/>
          </a:ln>
        </p:spPr>
      </p:pic>
      <p:pic>
        <p:nvPicPr>
          <p:cNvPr id="62" name="Google Shape;62;p13" title="Cole_Headshot.JPEG"/>
          <p:cNvPicPr preferRelativeResize="0"/>
          <p:nvPr/>
        </p:nvPicPr>
        <p:blipFill>
          <a:blip r:embed="rId4">
            <a:alphaModFix/>
          </a:blip>
          <a:stretch>
            <a:fillRect/>
          </a:stretch>
        </p:blipFill>
        <p:spPr>
          <a:xfrm>
            <a:off x="4947237" y="2540925"/>
            <a:ext cx="1241100" cy="1580700"/>
          </a:xfrm>
          <a:prstGeom prst="roundRect">
            <a:avLst>
              <a:gd fmla="val 16667" name="adj"/>
            </a:avLst>
          </a:prstGeom>
          <a:noFill/>
          <a:ln cap="flat" cmpd="sng" w="38100">
            <a:solidFill>
              <a:schemeClr val="lt2"/>
            </a:solidFill>
            <a:prstDash val="solid"/>
            <a:round/>
            <a:headEnd len="sm" w="sm" type="none"/>
            <a:tailEnd len="sm" w="sm" type="none"/>
          </a:ln>
        </p:spPr>
      </p:pic>
      <p:sp>
        <p:nvSpPr>
          <p:cNvPr id="63" name="Google Shape;63;p13"/>
          <p:cNvSpPr txBox="1"/>
          <p:nvPr/>
        </p:nvSpPr>
        <p:spPr>
          <a:xfrm>
            <a:off x="304225" y="4156125"/>
            <a:ext cx="1927200" cy="85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lt1"/>
                </a:solidFill>
                <a:latin typeface="Proxima Nova"/>
                <a:ea typeface="Proxima Nova"/>
                <a:cs typeface="Proxima Nova"/>
                <a:sym typeface="Proxima Nova"/>
              </a:rPr>
              <a:t>Dylan Hyer</a:t>
            </a:r>
            <a:endParaRPr sz="15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500">
                <a:solidFill>
                  <a:schemeClr val="lt1"/>
                </a:solidFill>
                <a:latin typeface="Proxima Nova"/>
                <a:ea typeface="Proxima Nova"/>
                <a:cs typeface="Proxima Nova"/>
                <a:sym typeface="Proxima Nova"/>
              </a:rPr>
              <a:t>Team Leader</a:t>
            </a:r>
            <a:endParaRPr sz="15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500">
                <a:solidFill>
                  <a:schemeClr val="lt1"/>
                </a:solidFill>
                <a:latin typeface="Proxima Nova"/>
                <a:ea typeface="Proxima Nova"/>
                <a:cs typeface="Proxima Nova"/>
                <a:sym typeface="Proxima Nova"/>
              </a:rPr>
              <a:t>deh277@nau.edu</a:t>
            </a:r>
            <a:endParaRPr sz="1500">
              <a:solidFill>
                <a:schemeClr val="lt1"/>
              </a:solidFill>
              <a:latin typeface="Proxima Nova"/>
              <a:ea typeface="Proxima Nova"/>
              <a:cs typeface="Proxima Nova"/>
              <a:sym typeface="Proxima Nova"/>
            </a:endParaRPr>
          </a:p>
        </p:txBody>
      </p:sp>
      <p:sp>
        <p:nvSpPr>
          <p:cNvPr id="64" name="Google Shape;64;p13"/>
          <p:cNvSpPr txBox="1"/>
          <p:nvPr/>
        </p:nvSpPr>
        <p:spPr>
          <a:xfrm>
            <a:off x="2305850" y="4156125"/>
            <a:ext cx="2117700" cy="85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lt1"/>
                </a:solidFill>
                <a:latin typeface="Proxima Nova"/>
                <a:ea typeface="Proxima Nova"/>
                <a:cs typeface="Proxima Nova"/>
                <a:sym typeface="Proxima Nova"/>
              </a:rPr>
              <a:t>Nyle Huntley</a:t>
            </a:r>
            <a:endParaRPr sz="15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500">
                <a:solidFill>
                  <a:schemeClr val="lt1"/>
                </a:solidFill>
                <a:latin typeface="Proxima Nova"/>
                <a:ea typeface="Proxima Nova"/>
                <a:cs typeface="Proxima Nova"/>
                <a:sym typeface="Proxima Nova"/>
              </a:rPr>
              <a:t>Release Manager</a:t>
            </a:r>
            <a:endParaRPr sz="15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500">
                <a:solidFill>
                  <a:schemeClr val="lt1"/>
                </a:solidFill>
                <a:latin typeface="Proxima Nova"/>
                <a:ea typeface="Proxima Nova"/>
                <a:cs typeface="Proxima Nova"/>
                <a:sym typeface="Proxima Nova"/>
              </a:rPr>
              <a:t>nah353@nau.edu</a:t>
            </a:r>
            <a:endParaRPr sz="1500">
              <a:solidFill>
                <a:schemeClr val="lt1"/>
              </a:solidFill>
              <a:latin typeface="Proxima Nova"/>
              <a:ea typeface="Proxima Nova"/>
              <a:cs typeface="Proxima Nova"/>
              <a:sym typeface="Proxima Nova"/>
            </a:endParaRPr>
          </a:p>
        </p:txBody>
      </p:sp>
      <p:sp>
        <p:nvSpPr>
          <p:cNvPr id="65" name="Google Shape;65;p13"/>
          <p:cNvSpPr txBox="1"/>
          <p:nvPr/>
        </p:nvSpPr>
        <p:spPr>
          <a:xfrm>
            <a:off x="6700200" y="4128075"/>
            <a:ext cx="2117700" cy="91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lt1"/>
                </a:solidFill>
                <a:latin typeface="Proxima Nova"/>
                <a:ea typeface="Proxima Nova"/>
                <a:cs typeface="Proxima Nova"/>
                <a:sym typeface="Proxima Nova"/>
              </a:rPr>
              <a:t>Mayanna John</a:t>
            </a:r>
            <a:endParaRPr sz="15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500">
                <a:solidFill>
                  <a:schemeClr val="lt1"/>
                </a:solidFill>
                <a:latin typeface="Proxima Nova"/>
                <a:ea typeface="Proxima Nova"/>
                <a:cs typeface="Proxima Nova"/>
                <a:sym typeface="Proxima Nova"/>
              </a:rPr>
              <a:t>Architect</a:t>
            </a:r>
            <a:endParaRPr sz="15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500">
                <a:solidFill>
                  <a:schemeClr val="lt1"/>
                </a:solidFill>
                <a:latin typeface="Proxima Nova"/>
                <a:ea typeface="Proxima Nova"/>
                <a:cs typeface="Proxima Nova"/>
                <a:sym typeface="Proxima Nova"/>
              </a:rPr>
              <a:t>mrj335@nau.edu</a:t>
            </a:r>
            <a:endParaRPr sz="1500">
              <a:solidFill>
                <a:schemeClr val="lt1"/>
              </a:solidFill>
              <a:latin typeface="Proxima Nova"/>
              <a:ea typeface="Proxima Nova"/>
              <a:cs typeface="Proxima Nova"/>
              <a:sym typeface="Proxima Nova"/>
            </a:endParaRPr>
          </a:p>
        </p:txBody>
      </p:sp>
      <p:sp>
        <p:nvSpPr>
          <p:cNvPr id="66" name="Google Shape;66;p13"/>
          <p:cNvSpPr txBox="1"/>
          <p:nvPr/>
        </p:nvSpPr>
        <p:spPr>
          <a:xfrm>
            <a:off x="4604175" y="4156125"/>
            <a:ext cx="1927200" cy="85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lt1"/>
                </a:solidFill>
                <a:latin typeface="Proxima Nova"/>
                <a:ea typeface="Proxima Nova"/>
                <a:cs typeface="Proxima Nova"/>
                <a:sym typeface="Proxima Nova"/>
              </a:rPr>
              <a:t>Cole Bishop</a:t>
            </a:r>
            <a:endParaRPr sz="15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500">
                <a:solidFill>
                  <a:schemeClr val="lt1"/>
                </a:solidFill>
                <a:latin typeface="Proxima Nova"/>
                <a:ea typeface="Proxima Nova"/>
                <a:cs typeface="Proxima Nova"/>
                <a:sym typeface="Proxima Nova"/>
              </a:rPr>
              <a:t>Recorder</a:t>
            </a:r>
            <a:endParaRPr sz="15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500">
                <a:solidFill>
                  <a:schemeClr val="lt1"/>
                </a:solidFill>
                <a:latin typeface="Proxima Nova"/>
                <a:ea typeface="Proxima Nova"/>
                <a:cs typeface="Proxima Nova"/>
                <a:sym typeface="Proxima Nova"/>
              </a:rPr>
              <a:t>cdb499@nau.edu</a:t>
            </a:r>
            <a:endParaRPr sz="1500">
              <a:solidFill>
                <a:schemeClr val="lt1"/>
              </a:solidFill>
              <a:latin typeface="Proxima Nova"/>
              <a:ea typeface="Proxima Nova"/>
              <a:cs typeface="Proxima Nova"/>
              <a:sym typeface="Proxima Nova"/>
            </a:endParaRPr>
          </a:p>
        </p:txBody>
      </p:sp>
      <p:pic>
        <p:nvPicPr>
          <p:cNvPr id="67" name="Google Shape;67;p13" title="Dylan_Headshot.jpg"/>
          <p:cNvPicPr preferRelativeResize="0"/>
          <p:nvPr/>
        </p:nvPicPr>
        <p:blipFill>
          <a:blip r:embed="rId5">
            <a:alphaModFix/>
          </a:blip>
          <a:stretch>
            <a:fillRect/>
          </a:stretch>
        </p:blipFill>
        <p:spPr>
          <a:xfrm>
            <a:off x="535827" y="2624312"/>
            <a:ext cx="1464000" cy="1413900"/>
          </a:xfrm>
          <a:prstGeom prst="roundRect">
            <a:avLst>
              <a:gd fmla="val 16667" name="adj"/>
            </a:avLst>
          </a:prstGeom>
          <a:noFill/>
          <a:ln cap="flat" cmpd="sng" w="38100">
            <a:solidFill>
              <a:schemeClr val="lt2"/>
            </a:solidFill>
            <a:prstDash val="solid"/>
            <a:round/>
            <a:headEnd len="sm" w="sm" type="none"/>
            <a:tailEnd len="sm" w="sm" type="none"/>
          </a:ln>
        </p:spPr>
      </p:pic>
      <p:pic>
        <p:nvPicPr>
          <p:cNvPr id="68" name="Google Shape;68;p13" title="Nyle_Headshot.jpg"/>
          <p:cNvPicPr preferRelativeResize="0"/>
          <p:nvPr/>
        </p:nvPicPr>
        <p:blipFill>
          <a:blip r:embed="rId6">
            <a:alphaModFix/>
          </a:blip>
          <a:stretch>
            <a:fillRect/>
          </a:stretch>
        </p:blipFill>
        <p:spPr>
          <a:xfrm>
            <a:off x="2867300" y="2562237"/>
            <a:ext cx="1101000" cy="1538100"/>
          </a:xfrm>
          <a:prstGeom prst="roundRect">
            <a:avLst>
              <a:gd fmla="val 16667" name="adj"/>
            </a:avLst>
          </a:prstGeom>
          <a:noFill/>
          <a:ln cap="flat" cmpd="sng" w="38100">
            <a:solidFill>
              <a:schemeClr val="lt2"/>
            </a:solidFill>
            <a:prstDash val="solid"/>
            <a:round/>
            <a:headEnd len="sm" w="sm" type="none"/>
            <a:tailEnd len="sm" w="sm" type="none"/>
          </a:ln>
        </p:spPr>
      </p:pic>
      <p:pic>
        <p:nvPicPr>
          <p:cNvPr id="69" name="Google Shape;69;p13" title="Mayanna_Headshot.jpg"/>
          <p:cNvPicPr preferRelativeResize="0"/>
          <p:nvPr/>
        </p:nvPicPr>
        <p:blipFill>
          <a:blip r:embed="rId7">
            <a:alphaModFix/>
          </a:blip>
          <a:stretch>
            <a:fillRect/>
          </a:stretch>
        </p:blipFill>
        <p:spPr>
          <a:xfrm>
            <a:off x="7138500" y="2506275"/>
            <a:ext cx="1241100" cy="1650000"/>
          </a:xfrm>
          <a:prstGeom prst="roundRect">
            <a:avLst>
              <a:gd fmla="val 16667" name="adj"/>
            </a:avLst>
          </a:prstGeom>
          <a:noFill/>
          <a:ln cap="flat" cmpd="sng" w="38100">
            <a:solidFill>
              <a:schemeClr val="lt2"/>
            </a:solidFill>
            <a:prstDash val="solid"/>
            <a:round/>
            <a:headEnd len="sm" w="sm" type="none"/>
            <a:tailEnd len="sm" w="sm" type="none"/>
          </a:ln>
        </p:spPr>
      </p:pic>
      <p:sp>
        <p:nvSpPr>
          <p:cNvPr id="70" name="Google Shape;70;p13"/>
          <p:cNvSpPr txBox="1"/>
          <p:nvPr>
            <p:ph idx="1" type="subTitle"/>
          </p:nvPr>
        </p:nvSpPr>
        <p:spPr>
          <a:xfrm>
            <a:off x="535825" y="1703613"/>
            <a:ext cx="5198400" cy="4470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Client: Morgan Boatman</a:t>
            </a:r>
            <a:endParaRPr/>
          </a:p>
        </p:txBody>
      </p:sp>
      <p:sp>
        <p:nvSpPr>
          <p:cNvPr id="71" name="Google Shape;71;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4"/>
          <p:cNvSpPr txBox="1"/>
          <p:nvPr>
            <p:ph type="title"/>
          </p:nvPr>
        </p:nvSpPr>
        <p:spPr>
          <a:xfrm>
            <a:off x="265500" y="389125"/>
            <a:ext cx="4045200" cy="1509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Problem Statement</a:t>
            </a:r>
            <a:endParaRPr/>
          </a:p>
        </p:txBody>
      </p:sp>
      <p:sp>
        <p:nvSpPr>
          <p:cNvPr id="77" name="Google Shape;77;p14"/>
          <p:cNvSpPr txBox="1"/>
          <p:nvPr>
            <p:ph idx="2" type="body"/>
          </p:nvPr>
        </p:nvSpPr>
        <p:spPr>
          <a:xfrm>
            <a:off x="4835400" y="74500"/>
            <a:ext cx="4045200" cy="4622700"/>
          </a:xfrm>
          <a:prstGeom prst="rect">
            <a:avLst/>
          </a:prstGeom>
        </p:spPr>
        <p:txBody>
          <a:bodyPr anchorCtr="0" anchor="ctr" bIns="91425" lIns="91425" spcFirstLastPara="1" rIns="91425" wrap="square" tIns="91425">
            <a:normAutofit lnSpcReduction="20000"/>
          </a:bodyPr>
          <a:lstStyle/>
          <a:p>
            <a:pPr indent="-381000" lvl="0" marL="457200" rtl="0" algn="l">
              <a:spcBef>
                <a:spcPts val="0"/>
              </a:spcBef>
              <a:spcAft>
                <a:spcPts val="0"/>
              </a:spcAft>
              <a:buSzPts val="2400"/>
              <a:buChar char="●"/>
            </a:pPr>
            <a:r>
              <a:rPr lang="en" sz="2400"/>
              <a:t>Situational awareness is at an all time low</a:t>
            </a:r>
            <a:br>
              <a:rPr lang="en" sz="2400"/>
            </a:br>
            <a:endParaRPr sz="2400"/>
          </a:p>
          <a:p>
            <a:pPr indent="-381000" lvl="0" marL="457200" rtl="0" algn="l">
              <a:spcBef>
                <a:spcPts val="0"/>
              </a:spcBef>
              <a:spcAft>
                <a:spcPts val="0"/>
              </a:spcAft>
              <a:buSzPts val="2400"/>
              <a:buChar char="●"/>
            </a:pPr>
            <a:r>
              <a:rPr lang="en" sz="2400"/>
              <a:t>Being more aware can help you in emergencies</a:t>
            </a:r>
            <a:br>
              <a:rPr lang="en" sz="2400"/>
            </a:br>
            <a:endParaRPr sz="2400"/>
          </a:p>
          <a:p>
            <a:pPr indent="-381000" lvl="0" marL="457200" rtl="0" algn="l">
              <a:spcBef>
                <a:spcPts val="0"/>
              </a:spcBef>
              <a:spcAft>
                <a:spcPts val="0"/>
              </a:spcAft>
              <a:buSzPts val="2400"/>
              <a:buChar char="●"/>
            </a:pPr>
            <a:r>
              <a:rPr lang="en" sz="2400"/>
              <a:t>Our client has created awareness training in the past</a:t>
            </a:r>
            <a:br>
              <a:rPr lang="en" sz="2400"/>
            </a:br>
            <a:endParaRPr sz="2400"/>
          </a:p>
          <a:p>
            <a:pPr indent="-381000" lvl="0" marL="457200" rtl="0" algn="l">
              <a:spcBef>
                <a:spcPts val="0"/>
              </a:spcBef>
              <a:spcAft>
                <a:spcPts val="0"/>
              </a:spcAft>
              <a:buSzPts val="2400"/>
              <a:buChar char="●"/>
            </a:pPr>
            <a:r>
              <a:rPr lang="en" sz="2400"/>
              <a:t>Poor scalability due to manual implementation</a:t>
            </a:r>
            <a:endParaRPr sz="2400"/>
          </a:p>
        </p:txBody>
      </p:sp>
      <p:pic>
        <p:nvPicPr>
          <p:cNvPr id="78" name="Google Shape;78;p14"/>
          <p:cNvPicPr preferRelativeResize="0"/>
          <p:nvPr/>
        </p:nvPicPr>
        <p:blipFill>
          <a:blip r:embed="rId3">
            <a:alphaModFix/>
          </a:blip>
          <a:stretch>
            <a:fillRect/>
          </a:stretch>
        </p:blipFill>
        <p:spPr>
          <a:xfrm>
            <a:off x="1267787" y="2383051"/>
            <a:ext cx="2036425" cy="2036425"/>
          </a:xfrm>
          <a:prstGeom prst="rect">
            <a:avLst/>
          </a:prstGeom>
          <a:noFill/>
          <a:ln>
            <a:noFill/>
          </a:ln>
        </p:spPr>
      </p:pic>
      <p:sp>
        <p:nvSpPr>
          <p:cNvPr id="79" name="Google Shape;7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5"/>
          <p:cNvPicPr preferRelativeResize="0"/>
          <p:nvPr/>
        </p:nvPicPr>
        <p:blipFill>
          <a:blip r:embed="rId3">
            <a:alphaModFix/>
          </a:blip>
          <a:stretch>
            <a:fillRect/>
          </a:stretch>
        </p:blipFill>
        <p:spPr>
          <a:xfrm>
            <a:off x="5683250" y="713075"/>
            <a:ext cx="3013874" cy="3807375"/>
          </a:xfrm>
          <a:prstGeom prst="rect">
            <a:avLst/>
          </a:prstGeom>
          <a:noFill/>
          <a:ln>
            <a:noFill/>
          </a:ln>
        </p:spPr>
      </p:pic>
      <p:sp>
        <p:nvSpPr>
          <p:cNvPr id="85" name="Google Shape;85;p15"/>
          <p:cNvSpPr txBox="1"/>
          <p:nvPr>
            <p:ph idx="1" type="body"/>
          </p:nvPr>
        </p:nvSpPr>
        <p:spPr>
          <a:xfrm>
            <a:off x="304150" y="1423662"/>
            <a:ext cx="5351100" cy="2783700"/>
          </a:xfrm>
          <a:prstGeom prst="rect">
            <a:avLst/>
          </a:prstGeom>
          <a:ln>
            <a:noFill/>
          </a:ln>
        </p:spPr>
        <p:txBody>
          <a:bodyPr anchorCtr="0" anchor="ctr" bIns="91425" lIns="91425" spcFirstLastPara="1" rIns="91425" wrap="square" tIns="91425">
            <a:normAutofit/>
          </a:bodyPr>
          <a:lstStyle/>
          <a:p>
            <a:pPr indent="-317500" lvl="0" marL="457200" rtl="0" algn="l">
              <a:spcBef>
                <a:spcPts val="0"/>
              </a:spcBef>
              <a:spcAft>
                <a:spcPts val="0"/>
              </a:spcAft>
              <a:buClr>
                <a:srgbClr val="000000"/>
              </a:buClr>
              <a:buSzPts val="1400"/>
              <a:buFont typeface="Roboto"/>
              <a:buChar char="●"/>
            </a:pPr>
            <a:r>
              <a:rPr lang="en" sz="1400">
                <a:solidFill>
                  <a:srgbClr val="000000"/>
                </a:solidFill>
                <a:latin typeface="Roboto"/>
                <a:ea typeface="Roboto"/>
                <a:cs typeface="Roboto"/>
                <a:sym typeface="Roboto"/>
              </a:rPr>
              <a:t>Automated directive reminders</a:t>
            </a:r>
            <a:endParaRPr sz="1400">
              <a:solidFill>
                <a:srgbClr val="000000"/>
              </a:solidFill>
              <a:latin typeface="Roboto"/>
              <a:ea typeface="Roboto"/>
              <a:cs typeface="Roboto"/>
              <a:sym typeface="Roboto"/>
            </a:endParaRPr>
          </a:p>
          <a:p>
            <a:pPr indent="0" lvl="0" marL="0" rtl="0" algn="l">
              <a:spcBef>
                <a:spcPts val="0"/>
              </a:spcBef>
              <a:spcAft>
                <a:spcPts val="0"/>
              </a:spcAft>
              <a:buNone/>
            </a:pPr>
            <a:r>
              <a:t/>
            </a:r>
            <a:endParaRPr sz="1400">
              <a:solidFill>
                <a:srgbClr val="000000"/>
              </a:solidFill>
              <a:latin typeface="Roboto"/>
              <a:ea typeface="Roboto"/>
              <a:cs typeface="Roboto"/>
              <a:sym typeface="Roboto"/>
            </a:endParaRPr>
          </a:p>
          <a:p>
            <a:pPr indent="-317500" lvl="0" marL="457200" rtl="0" algn="l">
              <a:spcBef>
                <a:spcPts val="0"/>
              </a:spcBef>
              <a:spcAft>
                <a:spcPts val="0"/>
              </a:spcAft>
              <a:buClr>
                <a:srgbClr val="000000"/>
              </a:buClr>
              <a:buSzPts val="1400"/>
              <a:buFont typeface="Roboto"/>
              <a:buChar char="●"/>
            </a:pPr>
            <a:r>
              <a:rPr lang="en" sz="1400">
                <a:solidFill>
                  <a:srgbClr val="000000"/>
                </a:solidFill>
                <a:latin typeface="Roboto"/>
                <a:ea typeface="Roboto"/>
                <a:cs typeface="Roboto"/>
                <a:sym typeface="Roboto"/>
              </a:rPr>
              <a:t>Flexible directive categories and reminder frequencies</a:t>
            </a:r>
            <a:endParaRPr sz="1400">
              <a:solidFill>
                <a:srgbClr val="000000"/>
              </a:solidFill>
              <a:latin typeface="Roboto"/>
              <a:ea typeface="Roboto"/>
              <a:cs typeface="Roboto"/>
              <a:sym typeface="Roboto"/>
            </a:endParaRPr>
          </a:p>
          <a:p>
            <a:pPr indent="0" lvl="0" marL="0" rtl="0" algn="l">
              <a:spcBef>
                <a:spcPts val="0"/>
              </a:spcBef>
              <a:spcAft>
                <a:spcPts val="0"/>
              </a:spcAft>
              <a:buNone/>
            </a:pPr>
            <a:r>
              <a:t/>
            </a:r>
            <a:endParaRPr sz="1400">
              <a:solidFill>
                <a:srgbClr val="000000"/>
              </a:solidFill>
              <a:latin typeface="Roboto"/>
              <a:ea typeface="Roboto"/>
              <a:cs typeface="Roboto"/>
              <a:sym typeface="Roboto"/>
            </a:endParaRPr>
          </a:p>
          <a:p>
            <a:pPr indent="-317500" lvl="0" marL="457200" rtl="0" algn="l">
              <a:spcBef>
                <a:spcPts val="0"/>
              </a:spcBef>
              <a:spcAft>
                <a:spcPts val="0"/>
              </a:spcAft>
              <a:buClr>
                <a:srgbClr val="000000"/>
              </a:buClr>
              <a:buSzPts val="1400"/>
              <a:buFont typeface="Roboto"/>
              <a:buChar char="●"/>
            </a:pPr>
            <a:r>
              <a:rPr lang="en" sz="1400">
                <a:solidFill>
                  <a:srgbClr val="000000"/>
                </a:solidFill>
                <a:latin typeface="Roboto"/>
                <a:ea typeface="Roboto"/>
                <a:cs typeface="Roboto"/>
                <a:sym typeface="Roboto"/>
              </a:rPr>
              <a:t>Hours of manual effort eliminated</a:t>
            </a:r>
            <a:endParaRPr sz="1400">
              <a:solidFill>
                <a:srgbClr val="000000"/>
              </a:solidFill>
              <a:latin typeface="Roboto"/>
              <a:ea typeface="Roboto"/>
              <a:cs typeface="Roboto"/>
              <a:sym typeface="Roboto"/>
            </a:endParaRPr>
          </a:p>
          <a:p>
            <a:pPr indent="0" lvl="0" marL="457200" rtl="0" algn="l">
              <a:spcBef>
                <a:spcPts val="0"/>
              </a:spcBef>
              <a:spcAft>
                <a:spcPts val="0"/>
              </a:spcAft>
              <a:buNone/>
            </a:pPr>
            <a:r>
              <a:t/>
            </a:r>
            <a:endParaRPr sz="1400">
              <a:solidFill>
                <a:srgbClr val="000000"/>
              </a:solidFill>
              <a:latin typeface="Roboto"/>
              <a:ea typeface="Roboto"/>
              <a:cs typeface="Roboto"/>
              <a:sym typeface="Roboto"/>
            </a:endParaRPr>
          </a:p>
          <a:p>
            <a:pPr indent="-317500" lvl="0" marL="457200" rtl="0" algn="l">
              <a:spcBef>
                <a:spcPts val="0"/>
              </a:spcBef>
              <a:spcAft>
                <a:spcPts val="0"/>
              </a:spcAft>
              <a:buClr>
                <a:srgbClr val="000000"/>
              </a:buClr>
              <a:buSzPts val="1400"/>
              <a:buFont typeface="Roboto"/>
              <a:buChar char="●"/>
            </a:pPr>
            <a:r>
              <a:rPr lang="en" sz="1400">
                <a:solidFill>
                  <a:srgbClr val="000000"/>
                </a:solidFill>
                <a:latin typeface="Roboto"/>
                <a:ea typeface="Roboto"/>
                <a:cs typeface="Roboto"/>
                <a:sym typeface="Roboto"/>
              </a:rPr>
              <a:t>Offline availability for training anywhere</a:t>
            </a:r>
            <a:endParaRPr sz="1400">
              <a:solidFill>
                <a:srgbClr val="000000"/>
              </a:solidFill>
              <a:latin typeface="Roboto"/>
              <a:ea typeface="Roboto"/>
              <a:cs typeface="Roboto"/>
              <a:sym typeface="Roboto"/>
            </a:endParaRPr>
          </a:p>
        </p:txBody>
      </p:sp>
      <p:sp>
        <p:nvSpPr>
          <p:cNvPr id="86" name="Google Shape;86;p15"/>
          <p:cNvSpPr txBox="1"/>
          <p:nvPr>
            <p:ph idx="4294967295" type="ctrTitle"/>
          </p:nvPr>
        </p:nvSpPr>
        <p:spPr>
          <a:xfrm>
            <a:off x="820075" y="471092"/>
            <a:ext cx="4200300" cy="116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t>Proposed Solution</a:t>
            </a:r>
            <a:r>
              <a:rPr lang="en" sz="3220"/>
              <a:t>: KIMinder360 App</a:t>
            </a:r>
            <a:endParaRPr sz="3220"/>
          </a:p>
        </p:txBody>
      </p:sp>
      <p:sp>
        <p:nvSpPr>
          <p:cNvPr id="87" name="Google Shape;87;p15"/>
          <p:cNvSpPr/>
          <p:nvPr/>
        </p:nvSpPr>
        <p:spPr>
          <a:xfrm>
            <a:off x="-51950" y="4326725"/>
            <a:ext cx="9283200" cy="890100"/>
          </a:xfrm>
          <a:prstGeom prst="rect">
            <a:avLst/>
          </a:prstGeom>
          <a:solidFill>
            <a:srgbClr val="202729"/>
          </a:solidFill>
          <a:ln cap="flat" cmpd="sng" w="28575">
            <a:solidFill>
              <a:srgbClr val="4BA17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88" name="Google Shape;88;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descr="Old Lafayette: Purdue president took Lafayette's first phone call" id="93" name="Google Shape;93;p16"/>
          <p:cNvPicPr preferRelativeResize="0"/>
          <p:nvPr/>
        </p:nvPicPr>
        <p:blipFill>
          <a:blip r:embed="rId3">
            <a:alphaModFix/>
          </a:blip>
          <a:stretch>
            <a:fillRect/>
          </a:stretch>
        </p:blipFill>
        <p:spPr>
          <a:xfrm>
            <a:off x="674700" y="2517750"/>
            <a:ext cx="3222576" cy="1808974"/>
          </a:xfrm>
          <a:prstGeom prst="rect">
            <a:avLst/>
          </a:prstGeom>
          <a:noFill/>
          <a:ln>
            <a:noFill/>
          </a:ln>
        </p:spPr>
      </p:pic>
      <p:sp>
        <p:nvSpPr>
          <p:cNvPr id="94" name="Google Shape;94;p16"/>
          <p:cNvSpPr txBox="1"/>
          <p:nvPr>
            <p:ph idx="4294967295" type="ctrTitle"/>
          </p:nvPr>
        </p:nvSpPr>
        <p:spPr>
          <a:xfrm>
            <a:off x="84875" y="180500"/>
            <a:ext cx="9027900" cy="75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t>How KIMinder360 Solves Our Client’s Challenges</a:t>
            </a:r>
            <a:endParaRPr sz="3220"/>
          </a:p>
        </p:txBody>
      </p:sp>
      <p:sp>
        <p:nvSpPr>
          <p:cNvPr id="95" name="Google Shape;95;p16"/>
          <p:cNvSpPr/>
          <p:nvPr/>
        </p:nvSpPr>
        <p:spPr>
          <a:xfrm>
            <a:off x="-51950" y="4326725"/>
            <a:ext cx="9283200" cy="890100"/>
          </a:xfrm>
          <a:prstGeom prst="rect">
            <a:avLst/>
          </a:prstGeom>
          <a:solidFill>
            <a:srgbClr val="202729"/>
          </a:solidFill>
          <a:ln cap="flat" cmpd="sng" w="28575">
            <a:solidFill>
              <a:srgbClr val="4BA17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96" name="Google Shape;96;p16"/>
          <p:cNvSpPr txBox="1"/>
          <p:nvPr/>
        </p:nvSpPr>
        <p:spPr>
          <a:xfrm>
            <a:off x="938800" y="1441750"/>
            <a:ext cx="27018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a:ea typeface="Roboto"/>
                <a:cs typeface="Roboto"/>
                <a:sym typeface="Roboto"/>
              </a:rPr>
              <a:t>One manual phone call per user, same time every day, no customization</a:t>
            </a:r>
            <a:endParaRPr sz="1800">
              <a:solidFill>
                <a:schemeClr val="accent3"/>
              </a:solidFill>
              <a:latin typeface="Proxima Nova"/>
              <a:ea typeface="Proxima Nova"/>
              <a:cs typeface="Proxima Nova"/>
              <a:sym typeface="Proxima Nova"/>
            </a:endParaRPr>
          </a:p>
        </p:txBody>
      </p:sp>
      <p:sp>
        <p:nvSpPr>
          <p:cNvPr id="97" name="Google Shape;97;p16"/>
          <p:cNvSpPr txBox="1"/>
          <p:nvPr/>
        </p:nvSpPr>
        <p:spPr>
          <a:xfrm>
            <a:off x="1851300" y="932900"/>
            <a:ext cx="869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u="sng">
                <a:latin typeface="Roboto"/>
                <a:ea typeface="Roboto"/>
                <a:cs typeface="Roboto"/>
                <a:sym typeface="Roboto"/>
              </a:rPr>
              <a:t>Before</a:t>
            </a:r>
            <a:endParaRPr sz="1800" u="sng">
              <a:solidFill>
                <a:schemeClr val="accent3"/>
              </a:solidFill>
              <a:latin typeface="Proxima Nova"/>
              <a:ea typeface="Proxima Nova"/>
              <a:cs typeface="Proxima Nova"/>
              <a:sym typeface="Proxima Nova"/>
            </a:endParaRPr>
          </a:p>
        </p:txBody>
      </p:sp>
      <p:sp>
        <p:nvSpPr>
          <p:cNvPr id="98" name="Google Shape;98;p16"/>
          <p:cNvSpPr txBox="1"/>
          <p:nvPr/>
        </p:nvSpPr>
        <p:spPr>
          <a:xfrm>
            <a:off x="6502650" y="932900"/>
            <a:ext cx="710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u="sng">
                <a:latin typeface="Roboto"/>
                <a:ea typeface="Roboto"/>
                <a:cs typeface="Roboto"/>
                <a:sym typeface="Roboto"/>
              </a:rPr>
              <a:t>After</a:t>
            </a:r>
            <a:endParaRPr sz="1800" u="sng">
              <a:solidFill>
                <a:schemeClr val="accent3"/>
              </a:solidFill>
              <a:latin typeface="Proxima Nova"/>
              <a:ea typeface="Proxima Nova"/>
              <a:cs typeface="Proxima Nova"/>
              <a:sym typeface="Proxima Nova"/>
            </a:endParaRPr>
          </a:p>
        </p:txBody>
      </p:sp>
      <p:sp>
        <p:nvSpPr>
          <p:cNvPr id="99" name="Google Shape;99;p16"/>
          <p:cNvSpPr txBox="1"/>
          <p:nvPr/>
        </p:nvSpPr>
        <p:spPr>
          <a:xfrm>
            <a:off x="5557050" y="1441750"/>
            <a:ext cx="2601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a:ea typeface="Roboto"/>
                <a:cs typeface="Roboto"/>
                <a:sym typeface="Roboto"/>
              </a:rPr>
              <a:t>Fully automated, personalized, dynamic experience</a:t>
            </a:r>
            <a:endParaRPr sz="1800">
              <a:solidFill>
                <a:schemeClr val="accent3"/>
              </a:solidFill>
              <a:latin typeface="Proxima Nova"/>
              <a:ea typeface="Proxima Nova"/>
              <a:cs typeface="Proxima Nova"/>
              <a:sym typeface="Proxima Nova"/>
            </a:endParaRPr>
          </a:p>
        </p:txBody>
      </p:sp>
      <p:pic>
        <p:nvPicPr>
          <p:cNvPr id="100" name="Google Shape;100;p16"/>
          <p:cNvPicPr preferRelativeResize="0"/>
          <p:nvPr/>
        </p:nvPicPr>
        <p:blipFill>
          <a:blip r:embed="rId4">
            <a:alphaModFix/>
          </a:blip>
          <a:stretch>
            <a:fillRect/>
          </a:stretch>
        </p:blipFill>
        <p:spPr>
          <a:xfrm>
            <a:off x="5789776" y="2224025"/>
            <a:ext cx="2136428" cy="1748875"/>
          </a:xfrm>
          <a:prstGeom prst="rect">
            <a:avLst/>
          </a:prstGeom>
          <a:noFill/>
          <a:ln>
            <a:noFill/>
          </a:ln>
        </p:spPr>
      </p:pic>
      <p:sp>
        <p:nvSpPr>
          <p:cNvPr id="101" name="Google Shape;101;p16"/>
          <p:cNvSpPr/>
          <p:nvPr/>
        </p:nvSpPr>
        <p:spPr>
          <a:xfrm>
            <a:off x="3897275" y="1469500"/>
            <a:ext cx="1403100" cy="560100"/>
          </a:xfrm>
          <a:prstGeom prst="rightArrow">
            <a:avLst>
              <a:gd fmla="val 50000" name="adj1"/>
              <a:gd fmla="val 50000" name="adj2"/>
            </a:avLst>
          </a:prstGeom>
          <a:solidFill>
            <a:srgbClr val="202729"/>
          </a:solidFill>
          <a:ln cap="flat" cmpd="sng" w="19050">
            <a:solidFill>
              <a:srgbClr val="4BA17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02" name="Google Shape;102;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6" name="Shape 106"/>
        <p:cNvGrpSpPr/>
        <p:nvPr/>
      </p:nvGrpSpPr>
      <p:grpSpPr>
        <a:xfrm>
          <a:off x="0" y="0"/>
          <a:ext cx="0" cy="0"/>
          <a:chOff x="0" y="0"/>
          <a:chExt cx="0" cy="0"/>
        </a:xfrm>
      </p:grpSpPr>
      <p:sp>
        <p:nvSpPr>
          <p:cNvPr id="107" name="Google Shape;107;p17"/>
          <p:cNvSpPr txBox="1"/>
          <p:nvPr>
            <p:ph type="title"/>
          </p:nvPr>
        </p:nvSpPr>
        <p:spPr>
          <a:xfrm>
            <a:off x="334075" y="24335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720">
                <a:solidFill>
                  <a:schemeClr val="lt1"/>
                </a:solidFill>
              </a:rPr>
              <a:t>Key Requirements</a:t>
            </a:r>
            <a:endParaRPr sz="2720">
              <a:solidFill>
                <a:schemeClr val="lt1"/>
              </a:solidFill>
            </a:endParaRPr>
          </a:p>
        </p:txBody>
      </p:sp>
      <p:sp>
        <p:nvSpPr>
          <p:cNvPr id="108" name="Google Shape;108;p17"/>
          <p:cNvSpPr/>
          <p:nvPr/>
        </p:nvSpPr>
        <p:spPr>
          <a:xfrm>
            <a:off x="3204925" y="3120525"/>
            <a:ext cx="2778900" cy="1793100"/>
          </a:xfrm>
          <a:prstGeom prst="roundRect">
            <a:avLst>
              <a:gd fmla="val 16667" name="adj"/>
            </a:avLst>
          </a:prstGeom>
          <a:solidFill>
            <a:schemeClr val="lt1"/>
          </a:solidFill>
          <a:ln cap="flat" cmpd="sng" w="38100">
            <a:solidFill>
              <a:schemeClr val="dk2"/>
            </a:solidFill>
            <a:prstDash val="solid"/>
            <a:round/>
            <a:headEnd len="sm" w="sm" type="none"/>
            <a:tailEnd len="sm" w="sm" type="none"/>
          </a:ln>
        </p:spPr>
        <p:txBody>
          <a:bodyPr anchorCtr="0" anchor="ctr" bIns="84600" lIns="84600" spcFirstLastPara="1" rIns="84600" wrap="square" tIns="84600">
            <a:noAutofit/>
          </a:bodyPr>
          <a:lstStyle/>
          <a:p>
            <a:pPr indent="0" lvl="0" marL="0" rtl="0" algn="l">
              <a:spcBef>
                <a:spcPts val="0"/>
              </a:spcBef>
              <a:spcAft>
                <a:spcPts val="0"/>
              </a:spcAft>
              <a:buNone/>
            </a:pPr>
            <a:r>
              <a:rPr b="1" lang="en" sz="1695">
                <a:latin typeface="Proxima Nova"/>
                <a:ea typeface="Proxima Nova"/>
                <a:cs typeface="Proxima Nova"/>
                <a:sym typeface="Proxima Nova"/>
              </a:rPr>
              <a:t>Functional Requirements</a:t>
            </a:r>
            <a:endParaRPr b="1" sz="1695">
              <a:latin typeface="Proxima Nova"/>
              <a:ea typeface="Proxima Nova"/>
              <a:cs typeface="Proxima Nova"/>
              <a:sym typeface="Proxima Nova"/>
            </a:endParaRPr>
          </a:p>
          <a:p>
            <a:pPr indent="-304800" lvl="0" marL="457200" rtl="0" algn="l">
              <a:spcBef>
                <a:spcPts val="0"/>
              </a:spcBef>
              <a:spcAft>
                <a:spcPts val="0"/>
              </a:spcAft>
              <a:buSzPts val="1200"/>
              <a:buFont typeface="Proxima Nova"/>
              <a:buChar char="●"/>
            </a:pPr>
            <a:r>
              <a:rPr b="1" lang="en" sz="1200">
                <a:latin typeface="Proxima Nova"/>
                <a:ea typeface="Proxima Nova"/>
                <a:cs typeface="Proxima Nova"/>
                <a:sym typeface="Proxima Nova"/>
              </a:rPr>
              <a:t>Push notifications</a:t>
            </a:r>
            <a:endParaRPr b="1" sz="1200">
              <a:latin typeface="Proxima Nova"/>
              <a:ea typeface="Proxima Nova"/>
              <a:cs typeface="Proxima Nova"/>
              <a:sym typeface="Proxima Nova"/>
            </a:endParaRPr>
          </a:p>
          <a:p>
            <a:pPr indent="-304800" lvl="0" marL="457200" rtl="0" algn="l">
              <a:spcBef>
                <a:spcPts val="0"/>
              </a:spcBef>
              <a:spcAft>
                <a:spcPts val="0"/>
              </a:spcAft>
              <a:buSzPts val="1200"/>
              <a:buFont typeface="Proxima Nova"/>
              <a:buChar char="●"/>
            </a:pPr>
            <a:r>
              <a:rPr b="1" lang="en" sz="1200">
                <a:latin typeface="Proxima Nova"/>
                <a:ea typeface="Proxima Nova"/>
                <a:cs typeface="Proxima Nova"/>
                <a:sym typeface="Proxima Nova"/>
              </a:rPr>
              <a:t>Category selection</a:t>
            </a:r>
            <a:endParaRPr b="1" sz="1200">
              <a:latin typeface="Proxima Nova"/>
              <a:ea typeface="Proxima Nova"/>
              <a:cs typeface="Proxima Nova"/>
              <a:sym typeface="Proxima Nova"/>
            </a:endParaRPr>
          </a:p>
          <a:p>
            <a:pPr indent="-304800" lvl="0" marL="457200" rtl="0" algn="l">
              <a:spcBef>
                <a:spcPts val="0"/>
              </a:spcBef>
              <a:spcAft>
                <a:spcPts val="0"/>
              </a:spcAft>
              <a:buSzPts val="1200"/>
              <a:buFont typeface="Proxima Nova"/>
              <a:buChar char="●"/>
            </a:pPr>
            <a:r>
              <a:rPr b="1" lang="en" sz="1200">
                <a:latin typeface="Proxima Nova"/>
                <a:ea typeface="Proxima Nova"/>
                <a:cs typeface="Proxima Nova"/>
                <a:sym typeface="Proxima Nova"/>
              </a:rPr>
              <a:t>Database of directives</a:t>
            </a:r>
            <a:endParaRPr b="1" sz="1200">
              <a:latin typeface="Proxima Nova"/>
              <a:ea typeface="Proxima Nova"/>
              <a:cs typeface="Proxima Nova"/>
              <a:sym typeface="Proxima Nova"/>
            </a:endParaRPr>
          </a:p>
          <a:p>
            <a:pPr indent="-304800" lvl="0" marL="457200" rtl="0" algn="l">
              <a:spcBef>
                <a:spcPts val="0"/>
              </a:spcBef>
              <a:spcAft>
                <a:spcPts val="0"/>
              </a:spcAft>
              <a:buSzPts val="1200"/>
              <a:buFont typeface="Proxima Nova"/>
              <a:buChar char="●"/>
            </a:pPr>
            <a:r>
              <a:rPr b="1" lang="en" sz="1200">
                <a:latin typeface="Proxima Nova"/>
                <a:ea typeface="Proxima Nova"/>
                <a:cs typeface="Proxima Nova"/>
                <a:sym typeface="Proxima Nova"/>
              </a:rPr>
              <a:t>Active hours selection</a:t>
            </a:r>
            <a:endParaRPr b="1" sz="1200">
              <a:latin typeface="Proxima Nova"/>
              <a:ea typeface="Proxima Nova"/>
              <a:cs typeface="Proxima Nova"/>
              <a:sym typeface="Proxima Nova"/>
            </a:endParaRPr>
          </a:p>
        </p:txBody>
      </p:sp>
      <p:sp>
        <p:nvSpPr>
          <p:cNvPr id="109" name="Google Shape;109;p17"/>
          <p:cNvSpPr/>
          <p:nvPr/>
        </p:nvSpPr>
        <p:spPr>
          <a:xfrm>
            <a:off x="6271075" y="3120525"/>
            <a:ext cx="2778900" cy="1793100"/>
          </a:xfrm>
          <a:prstGeom prst="roundRect">
            <a:avLst>
              <a:gd fmla="val 16667" name="adj"/>
            </a:avLst>
          </a:prstGeom>
          <a:solidFill>
            <a:schemeClr val="lt1"/>
          </a:solidFill>
          <a:ln cap="flat" cmpd="sng" w="38100">
            <a:solidFill>
              <a:schemeClr val="dk2"/>
            </a:solidFill>
            <a:prstDash val="solid"/>
            <a:round/>
            <a:headEnd len="sm" w="sm" type="none"/>
            <a:tailEnd len="sm" w="sm" type="none"/>
          </a:ln>
        </p:spPr>
        <p:txBody>
          <a:bodyPr anchorCtr="0" anchor="ctr" bIns="84600" lIns="84600" spcFirstLastPara="1" rIns="84600" wrap="square" tIns="84600">
            <a:noAutofit/>
          </a:bodyPr>
          <a:lstStyle/>
          <a:p>
            <a:pPr indent="0" lvl="0" marL="0" rtl="0" algn="l">
              <a:spcBef>
                <a:spcPts val="0"/>
              </a:spcBef>
              <a:spcAft>
                <a:spcPts val="0"/>
              </a:spcAft>
              <a:buNone/>
            </a:pPr>
            <a:r>
              <a:rPr b="1" lang="en" sz="1695">
                <a:latin typeface="Proxima Nova"/>
                <a:ea typeface="Proxima Nova"/>
                <a:cs typeface="Proxima Nova"/>
                <a:sym typeface="Proxima Nova"/>
              </a:rPr>
              <a:t>Environmental Requirements</a:t>
            </a:r>
            <a:endParaRPr b="1" sz="1695">
              <a:latin typeface="Proxima Nova"/>
              <a:ea typeface="Proxima Nova"/>
              <a:cs typeface="Proxima Nova"/>
              <a:sym typeface="Proxima Nova"/>
            </a:endParaRPr>
          </a:p>
          <a:p>
            <a:pPr indent="-304800" lvl="0" marL="457200" rtl="0" algn="l">
              <a:spcBef>
                <a:spcPts val="0"/>
              </a:spcBef>
              <a:spcAft>
                <a:spcPts val="0"/>
              </a:spcAft>
              <a:buSzPts val="1200"/>
              <a:buFont typeface="Proxima Nova"/>
              <a:buChar char="●"/>
            </a:pPr>
            <a:r>
              <a:rPr b="1" lang="en" sz="1200">
                <a:latin typeface="Proxima Nova"/>
                <a:ea typeface="Proxima Nova"/>
                <a:cs typeface="Proxima Nova"/>
                <a:sym typeface="Proxima Nova"/>
              </a:rPr>
              <a:t>Hardware and platform constraints</a:t>
            </a:r>
            <a:endParaRPr b="1" sz="1200">
              <a:latin typeface="Proxima Nova"/>
              <a:ea typeface="Proxima Nova"/>
              <a:cs typeface="Proxima Nova"/>
              <a:sym typeface="Proxima Nova"/>
            </a:endParaRPr>
          </a:p>
          <a:p>
            <a:pPr indent="-304800" lvl="0" marL="457200" rtl="0" algn="l">
              <a:spcBef>
                <a:spcPts val="0"/>
              </a:spcBef>
              <a:spcAft>
                <a:spcPts val="0"/>
              </a:spcAft>
              <a:buSzPts val="1200"/>
              <a:buFont typeface="Proxima Nova"/>
              <a:buChar char="●"/>
            </a:pPr>
            <a:r>
              <a:rPr b="1" lang="en" sz="1200">
                <a:latin typeface="Proxima Nova"/>
                <a:ea typeface="Proxima Nova"/>
                <a:cs typeface="Proxima Nova"/>
                <a:sym typeface="Proxima Nova"/>
              </a:rPr>
              <a:t>Software and development constraints</a:t>
            </a:r>
            <a:endParaRPr b="1" sz="1200">
              <a:latin typeface="Proxima Nova"/>
              <a:ea typeface="Proxima Nova"/>
              <a:cs typeface="Proxima Nova"/>
              <a:sym typeface="Proxima Nova"/>
            </a:endParaRPr>
          </a:p>
          <a:p>
            <a:pPr indent="-304800" lvl="0" marL="457200" rtl="0" algn="l">
              <a:spcBef>
                <a:spcPts val="0"/>
              </a:spcBef>
              <a:spcAft>
                <a:spcPts val="0"/>
              </a:spcAft>
              <a:buSzPts val="1200"/>
              <a:buFont typeface="Proxima Nova"/>
              <a:buChar char="●"/>
            </a:pPr>
            <a:r>
              <a:rPr b="1" lang="en" sz="1200">
                <a:latin typeface="Proxima Nova"/>
                <a:ea typeface="Proxima Nova"/>
                <a:cs typeface="Proxima Nova"/>
                <a:sym typeface="Proxima Nova"/>
              </a:rPr>
              <a:t>External standards</a:t>
            </a:r>
            <a:endParaRPr b="1" sz="1200">
              <a:latin typeface="Proxima Nova"/>
              <a:ea typeface="Proxima Nova"/>
              <a:cs typeface="Proxima Nova"/>
              <a:sym typeface="Proxima Nova"/>
            </a:endParaRPr>
          </a:p>
          <a:p>
            <a:pPr indent="-304800" lvl="0" marL="457200" rtl="0" algn="l">
              <a:spcBef>
                <a:spcPts val="0"/>
              </a:spcBef>
              <a:spcAft>
                <a:spcPts val="0"/>
              </a:spcAft>
              <a:buSzPts val="1200"/>
              <a:buFont typeface="Proxima Nova"/>
              <a:buChar char="●"/>
            </a:pPr>
            <a:r>
              <a:rPr b="1" lang="en" sz="1200">
                <a:latin typeface="Proxima Nova"/>
                <a:ea typeface="Proxima Nova"/>
                <a:cs typeface="Proxima Nova"/>
                <a:sym typeface="Proxima Nova"/>
              </a:rPr>
              <a:t>Operational environment</a:t>
            </a:r>
            <a:endParaRPr b="1" sz="1200">
              <a:latin typeface="Proxima Nova"/>
              <a:ea typeface="Proxima Nova"/>
              <a:cs typeface="Proxima Nova"/>
              <a:sym typeface="Proxima Nova"/>
            </a:endParaRPr>
          </a:p>
        </p:txBody>
      </p:sp>
      <p:sp>
        <p:nvSpPr>
          <p:cNvPr id="110" name="Google Shape;110;p17"/>
          <p:cNvSpPr/>
          <p:nvPr/>
        </p:nvSpPr>
        <p:spPr>
          <a:xfrm>
            <a:off x="2592025" y="984473"/>
            <a:ext cx="3996300" cy="1352400"/>
          </a:xfrm>
          <a:prstGeom prst="roundRect">
            <a:avLst>
              <a:gd fmla="val 16667" name="adj"/>
            </a:avLst>
          </a:prstGeom>
          <a:solidFill>
            <a:schemeClr val="lt1"/>
          </a:solidFill>
          <a:ln cap="flat" cmpd="sng" w="38100">
            <a:solidFill>
              <a:schemeClr val="dk2"/>
            </a:solidFill>
            <a:prstDash val="solid"/>
            <a:round/>
            <a:headEnd len="sm" w="sm" type="none"/>
            <a:tailEnd len="sm" w="sm" type="none"/>
          </a:ln>
        </p:spPr>
        <p:txBody>
          <a:bodyPr anchorCtr="0" anchor="ctr" bIns="84600" lIns="84600" spcFirstLastPara="1" rIns="84600" wrap="square" tIns="84600">
            <a:noAutofit/>
          </a:bodyPr>
          <a:lstStyle/>
          <a:p>
            <a:pPr indent="0" lvl="0" marL="0" rtl="0" algn="l">
              <a:spcBef>
                <a:spcPts val="0"/>
              </a:spcBef>
              <a:spcAft>
                <a:spcPts val="0"/>
              </a:spcAft>
              <a:buNone/>
            </a:pPr>
            <a:r>
              <a:rPr b="1" lang="en" sz="1695">
                <a:latin typeface="Proxima Nova"/>
                <a:ea typeface="Proxima Nova"/>
                <a:cs typeface="Proxima Nova"/>
                <a:sym typeface="Proxima Nova"/>
              </a:rPr>
              <a:t>Domain-Level Requirements</a:t>
            </a:r>
            <a:endParaRPr b="1" sz="1695">
              <a:latin typeface="Proxima Nova"/>
              <a:ea typeface="Proxima Nova"/>
              <a:cs typeface="Proxima Nova"/>
              <a:sym typeface="Proxima Nova"/>
            </a:endParaRPr>
          </a:p>
          <a:p>
            <a:pPr indent="-304800" lvl="0" marL="457200" rtl="0" algn="l">
              <a:spcBef>
                <a:spcPts val="0"/>
              </a:spcBef>
              <a:spcAft>
                <a:spcPts val="0"/>
              </a:spcAft>
              <a:buSzPts val="1200"/>
              <a:buFont typeface="Proxima Nova"/>
              <a:buChar char="●"/>
            </a:pPr>
            <a:r>
              <a:rPr b="1" lang="en" sz="1200">
                <a:latin typeface="Proxima Nova"/>
                <a:ea typeface="Proxima Nova"/>
                <a:cs typeface="Proxima Nova"/>
                <a:sym typeface="Proxima Nova"/>
              </a:rPr>
              <a:t>Automated situational awareness training</a:t>
            </a:r>
            <a:endParaRPr b="1" sz="1200">
              <a:latin typeface="Proxima Nova"/>
              <a:ea typeface="Proxima Nova"/>
              <a:cs typeface="Proxima Nova"/>
              <a:sym typeface="Proxima Nova"/>
            </a:endParaRPr>
          </a:p>
          <a:p>
            <a:pPr indent="-304800" lvl="0" marL="457200" rtl="0" algn="l">
              <a:spcBef>
                <a:spcPts val="0"/>
              </a:spcBef>
              <a:spcAft>
                <a:spcPts val="0"/>
              </a:spcAft>
              <a:buSzPts val="1200"/>
              <a:buFont typeface="Proxima Nova"/>
              <a:buChar char="●"/>
            </a:pPr>
            <a:r>
              <a:rPr b="1" lang="en" sz="1200">
                <a:latin typeface="Proxima Nova"/>
                <a:ea typeface="Proxima Nova"/>
                <a:cs typeface="Proxima Nova"/>
                <a:sym typeface="Proxima Nova"/>
              </a:rPr>
              <a:t>User customization and scheduling</a:t>
            </a:r>
            <a:endParaRPr b="1" sz="1200">
              <a:latin typeface="Proxima Nova"/>
              <a:ea typeface="Proxima Nova"/>
              <a:cs typeface="Proxima Nova"/>
              <a:sym typeface="Proxima Nova"/>
            </a:endParaRPr>
          </a:p>
          <a:p>
            <a:pPr indent="-304800" lvl="0" marL="457200" rtl="0" algn="l">
              <a:spcBef>
                <a:spcPts val="0"/>
              </a:spcBef>
              <a:spcAft>
                <a:spcPts val="0"/>
              </a:spcAft>
              <a:buSzPts val="1200"/>
              <a:buFont typeface="Proxima Nova"/>
              <a:buChar char="●"/>
            </a:pPr>
            <a:r>
              <a:rPr b="1" lang="en" sz="1200">
                <a:latin typeface="Proxima Nova"/>
                <a:ea typeface="Proxima Nova"/>
                <a:cs typeface="Proxima Nova"/>
                <a:sym typeface="Proxima Nova"/>
              </a:rPr>
              <a:t>Directive management and data handling</a:t>
            </a:r>
            <a:endParaRPr b="1" sz="1200">
              <a:latin typeface="Proxima Nova"/>
              <a:ea typeface="Proxima Nova"/>
              <a:cs typeface="Proxima Nova"/>
              <a:sym typeface="Proxima Nova"/>
            </a:endParaRPr>
          </a:p>
          <a:p>
            <a:pPr indent="-304800" lvl="0" marL="457200" rtl="0" algn="l">
              <a:spcBef>
                <a:spcPts val="0"/>
              </a:spcBef>
              <a:spcAft>
                <a:spcPts val="0"/>
              </a:spcAft>
              <a:buSzPts val="1200"/>
              <a:buFont typeface="Proxima Nova"/>
              <a:buChar char="●"/>
            </a:pPr>
            <a:r>
              <a:rPr b="1" lang="en" sz="1200">
                <a:latin typeface="Proxima Nova"/>
                <a:ea typeface="Proxima Nova"/>
                <a:cs typeface="Proxima Nova"/>
                <a:sym typeface="Proxima Nova"/>
              </a:rPr>
              <a:t>Scalability and future growth</a:t>
            </a:r>
            <a:endParaRPr b="1" sz="1200">
              <a:latin typeface="Proxima Nova"/>
              <a:ea typeface="Proxima Nova"/>
              <a:cs typeface="Proxima Nova"/>
              <a:sym typeface="Proxima Nova"/>
            </a:endParaRPr>
          </a:p>
        </p:txBody>
      </p:sp>
      <p:sp>
        <p:nvSpPr>
          <p:cNvPr id="111" name="Google Shape;111;p17"/>
          <p:cNvSpPr/>
          <p:nvPr/>
        </p:nvSpPr>
        <p:spPr>
          <a:xfrm>
            <a:off x="83675" y="3120525"/>
            <a:ext cx="2778900" cy="1793100"/>
          </a:xfrm>
          <a:prstGeom prst="roundRect">
            <a:avLst>
              <a:gd fmla="val 16667" name="adj"/>
            </a:avLst>
          </a:prstGeom>
          <a:solidFill>
            <a:schemeClr val="lt1"/>
          </a:solidFill>
          <a:ln cap="flat" cmpd="sng" w="38100">
            <a:solidFill>
              <a:schemeClr val="dk2"/>
            </a:solidFill>
            <a:prstDash val="solid"/>
            <a:round/>
            <a:headEnd len="sm" w="sm" type="none"/>
            <a:tailEnd len="sm" w="sm" type="none"/>
          </a:ln>
        </p:spPr>
        <p:txBody>
          <a:bodyPr anchorCtr="0" anchor="ctr" bIns="84600" lIns="84600" spcFirstLastPara="1" rIns="84600" wrap="square" tIns="84600">
            <a:noAutofit/>
          </a:bodyPr>
          <a:lstStyle/>
          <a:p>
            <a:pPr indent="0" lvl="0" marL="0" rtl="0" algn="l">
              <a:spcBef>
                <a:spcPts val="0"/>
              </a:spcBef>
              <a:spcAft>
                <a:spcPts val="0"/>
              </a:spcAft>
              <a:buNone/>
            </a:pPr>
            <a:r>
              <a:rPr b="1" lang="en" sz="1695">
                <a:latin typeface="Proxima Nova"/>
                <a:ea typeface="Proxima Nova"/>
                <a:cs typeface="Proxima Nova"/>
                <a:sym typeface="Proxima Nova"/>
              </a:rPr>
              <a:t>Performance Requirements</a:t>
            </a:r>
            <a:endParaRPr b="1" sz="1695">
              <a:latin typeface="Proxima Nova"/>
              <a:ea typeface="Proxima Nova"/>
              <a:cs typeface="Proxima Nova"/>
              <a:sym typeface="Proxima Nova"/>
            </a:endParaRPr>
          </a:p>
          <a:p>
            <a:pPr indent="-304800" lvl="0" marL="457200" rtl="0" algn="l">
              <a:spcBef>
                <a:spcPts val="0"/>
              </a:spcBef>
              <a:spcAft>
                <a:spcPts val="0"/>
              </a:spcAft>
              <a:buSzPts val="1200"/>
              <a:buFont typeface="Proxima Nova"/>
              <a:buChar char="●"/>
            </a:pPr>
            <a:r>
              <a:rPr b="1" lang="en" sz="1200">
                <a:latin typeface="Proxima Nova"/>
                <a:ea typeface="Proxima Nova"/>
                <a:cs typeface="Proxima Nova"/>
                <a:sym typeface="Proxima Nova"/>
              </a:rPr>
              <a:t>System responsiveness</a:t>
            </a:r>
            <a:endParaRPr b="1" sz="1200">
              <a:latin typeface="Proxima Nova"/>
              <a:ea typeface="Proxima Nova"/>
              <a:cs typeface="Proxima Nova"/>
              <a:sym typeface="Proxima Nova"/>
            </a:endParaRPr>
          </a:p>
          <a:p>
            <a:pPr indent="-304800" lvl="0" marL="457200" rtl="0" algn="l">
              <a:spcBef>
                <a:spcPts val="0"/>
              </a:spcBef>
              <a:spcAft>
                <a:spcPts val="0"/>
              </a:spcAft>
              <a:buSzPts val="1200"/>
              <a:buFont typeface="Proxima Nova"/>
              <a:buChar char="●"/>
            </a:pPr>
            <a:r>
              <a:rPr b="1" lang="en" sz="1200">
                <a:latin typeface="Proxima Nova"/>
                <a:ea typeface="Proxima Nova"/>
                <a:cs typeface="Proxima Nova"/>
                <a:sym typeface="Proxima Nova"/>
              </a:rPr>
              <a:t>Data management and storage</a:t>
            </a:r>
            <a:endParaRPr b="1" sz="1200">
              <a:latin typeface="Proxima Nova"/>
              <a:ea typeface="Proxima Nova"/>
              <a:cs typeface="Proxima Nova"/>
              <a:sym typeface="Proxima Nova"/>
            </a:endParaRPr>
          </a:p>
          <a:p>
            <a:pPr indent="-304800" lvl="0" marL="457200" rtl="0" algn="l">
              <a:spcBef>
                <a:spcPts val="0"/>
              </a:spcBef>
              <a:spcAft>
                <a:spcPts val="0"/>
              </a:spcAft>
              <a:buSzPts val="1200"/>
              <a:buFont typeface="Proxima Nova"/>
              <a:buChar char="●"/>
            </a:pPr>
            <a:r>
              <a:rPr b="1" lang="en" sz="1200">
                <a:latin typeface="Proxima Nova"/>
                <a:ea typeface="Proxima Nova"/>
                <a:cs typeface="Proxima Nova"/>
                <a:sym typeface="Proxima Nova"/>
              </a:rPr>
              <a:t>Usability and user learning</a:t>
            </a:r>
            <a:endParaRPr b="1" sz="1200">
              <a:latin typeface="Proxima Nova"/>
              <a:ea typeface="Proxima Nova"/>
              <a:cs typeface="Proxima Nova"/>
              <a:sym typeface="Proxima Nova"/>
            </a:endParaRPr>
          </a:p>
          <a:p>
            <a:pPr indent="-304800" lvl="0" marL="457200" rtl="0" algn="l">
              <a:spcBef>
                <a:spcPts val="0"/>
              </a:spcBef>
              <a:spcAft>
                <a:spcPts val="0"/>
              </a:spcAft>
              <a:buSzPts val="1200"/>
              <a:buFont typeface="Proxima Nova"/>
              <a:buChar char="●"/>
            </a:pPr>
            <a:r>
              <a:rPr b="1" lang="en" sz="1200">
                <a:latin typeface="Proxima Nova"/>
                <a:ea typeface="Proxima Nova"/>
                <a:cs typeface="Proxima Nova"/>
                <a:sym typeface="Proxima Nova"/>
              </a:rPr>
              <a:t>Performance efficiency</a:t>
            </a:r>
            <a:endParaRPr b="1" sz="1200">
              <a:latin typeface="Proxima Nova"/>
              <a:ea typeface="Proxima Nova"/>
              <a:cs typeface="Proxima Nova"/>
              <a:sym typeface="Proxima Nova"/>
            </a:endParaRPr>
          </a:p>
        </p:txBody>
      </p:sp>
      <p:sp>
        <p:nvSpPr>
          <p:cNvPr id="112" name="Google Shape;112;p17"/>
          <p:cNvSpPr txBox="1"/>
          <p:nvPr>
            <p:ph idx="12" type="sldNum"/>
          </p:nvPr>
        </p:nvSpPr>
        <p:spPr>
          <a:xfrm>
            <a:off x="8566833" y="48103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cxnSp>
        <p:nvCxnSpPr>
          <p:cNvPr id="113" name="Google Shape;113;p17"/>
          <p:cNvCxnSpPr>
            <a:stCxn id="110" idx="2"/>
          </p:cNvCxnSpPr>
          <p:nvPr/>
        </p:nvCxnSpPr>
        <p:spPr>
          <a:xfrm rot="5400000">
            <a:off x="2904925" y="888323"/>
            <a:ext cx="236700" cy="3133800"/>
          </a:xfrm>
          <a:prstGeom prst="bentConnector2">
            <a:avLst/>
          </a:prstGeom>
          <a:noFill/>
          <a:ln cap="flat" cmpd="sng" w="38100">
            <a:solidFill>
              <a:schemeClr val="dk2"/>
            </a:solidFill>
            <a:prstDash val="solid"/>
            <a:round/>
            <a:headEnd len="med" w="med" type="none"/>
            <a:tailEnd len="med" w="med" type="none"/>
          </a:ln>
        </p:spPr>
      </p:cxnSp>
      <p:cxnSp>
        <p:nvCxnSpPr>
          <p:cNvPr id="114" name="Google Shape;114;p17"/>
          <p:cNvCxnSpPr>
            <a:stCxn id="110" idx="2"/>
          </p:cNvCxnSpPr>
          <p:nvPr/>
        </p:nvCxnSpPr>
        <p:spPr>
          <a:xfrm flipH="1" rot="-5400000">
            <a:off x="6014125" y="912923"/>
            <a:ext cx="236700" cy="3084600"/>
          </a:xfrm>
          <a:prstGeom prst="bentConnector2">
            <a:avLst/>
          </a:prstGeom>
          <a:noFill/>
          <a:ln cap="flat" cmpd="sng" w="38100">
            <a:solidFill>
              <a:schemeClr val="dk2"/>
            </a:solidFill>
            <a:prstDash val="solid"/>
            <a:round/>
            <a:headEnd len="med" w="med" type="none"/>
            <a:tailEnd len="med" w="med" type="none"/>
          </a:ln>
        </p:spPr>
      </p:cxnSp>
      <p:cxnSp>
        <p:nvCxnSpPr>
          <p:cNvPr id="115" name="Google Shape;115;p17"/>
          <p:cNvCxnSpPr/>
          <p:nvPr/>
        </p:nvCxnSpPr>
        <p:spPr>
          <a:xfrm flipH="1">
            <a:off x="4585132" y="2548675"/>
            <a:ext cx="8400" cy="563700"/>
          </a:xfrm>
          <a:prstGeom prst="straightConnector1">
            <a:avLst/>
          </a:prstGeom>
          <a:noFill/>
          <a:ln cap="flat" cmpd="sng" w="38100">
            <a:solidFill>
              <a:schemeClr val="dk2"/>
            </a:solidFill>
            <a:prstDash val="solid"/>
            <a:round/>
            <a:headEnd len="med" w="med" type="none"/>
            <a:tailEnd len="med" w="med" type="none"/>
          </a:ln>
        </p:spPr>
      </p:cxnSp>
      <p:cxnSp>
        <p:nvCxnSpPr>
          <p:cNvPr id="116" name="Google Shape;116;p17"/>
          <p:cNvCxnSpPr/>
          <p:nvPr/>
        </p:nvCxnSpPr>
        <p:spPr>
          <a:xfrm flipH="1">
            <a:off x="1472963" y="2573600"/>
            <a:ext cx="300" cy="550500"/>
          </a:xfrm>
          <a:prstGeom prst="straightConnector1">
            <a:avLst/>
          </a:prstGeom>
          <a:noFill/>
          <a:ln cap="flat" cmpd="sng" w="38100">
            <a:solidFill>
              <a:schemeClr val="dk2"/>
            </a:solidFill>
            <a:prstDash val="solid"/>
            <a:round/>
            <a:headEnd len="med" w="med" type="none"/>
            <a:tailEnd len="med" w="med" type="none"/>
          </a:ln>
        </p:spPr>
      </p:cxnSp>
      <p:cxnSp>
        <p:nvCxnSpPr>
          <p:cNvPr id="117" name="Google Shape;117;p17"/>
          <p:cNvCxnSpPr/>
          <p:nvPr/>
        </p:nvCxnSpPr>
        <p:spPr>
          <a:xfrm>
            <a:off x="7656465" y="2581850"/>
            <a:ext cx="8100" cy="530400"/>
          </a:xfrm>
          <a:prstGeom prst="straightConnector1">
            <a:avLst/>
          </a:prstGeom>
          <a:noFill/>
          <a:ln cap="flat" cmpd="sng" w="38100">
            <a:solidFill>
              <a:schemeClr val="dk2"/>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1" name="Shape 121"/>
        <p:cNvGrpSpPr/>
        <p:nvPr/>
      </p:nvGrpSpPr>
      <p:grpSpPr>
        <a:xfrm>
          <a:off x="0" y="0"/>
          <a:ext cx="0" cy="0"/>
          <a:chOff x="0" y="0"/>
          <a:chExt cx="0" cy="0"/>
        </a:xfrm>
      </p:grpSpPr>
      <p:sp>
        <p:nvSpPr>
          <p:cNvPr id="122" name="Google Shape;122;p18"/>
          <p:cNvSpPr/>
          <p:nvPr/>
        </p:nvSpPr>
        <p:spPr>
          <a:xfrm>
            <a:off x="-44500" y="-152525"/>
            <a:ext cx="9246900" cy="1077900"/>
          </a:xfrm>
          <a:prstGeom prst="rect">
            <a:avLst/>
          </a:prstGeom>
          <a:solidFill>
            <a:schemeClr val="lt1"/>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23" name="Google Shape;123;p18"/>
          <p:cNvSpPr txBox="1"/>
          <p:nvPr>
            <p:ph type="title"/>
          </p:nvPr>
        </p:nvSpPr>
        <p:spPr>
          <a:xfrm>
            <a:off x="2095800" y="43525"/>
            <a:ext cx="5046000" cy="81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4000"/>
              <a:t>Risks and Feasibility</a:t>
            </a:r>
            <a:endParaRPr b="1" sz="4000"/>
          </a:p>
        </p:txBody>
      </p:sp>
      <p:sp>
        <p:nvSpPr>
          <p:cNvPr id="124" name="Google Shape;124;p18"/>
          <p:cNvSpPr/>
          <p:nvPr/>
        </p:nvSpPr>
        <p:spPr>
          <a:xfrm>
            <a:off x="3088974" y="1511803"/>
            <a:ext cx="2916300" cy="2916300"/>
          </a:xfrm>
          <a:prstGeom prst="donut">
            <a:avLst>
              <a:gd fmla="val 16067" name="adj"/>
            </a:avLst>
          </a:prstGeom>
          <a:solidFill>
            <a:srgbClr val="000000">
              <a:alpha val="10760"/>
            </a:srgbClr>
          </a:solidFill>
          <a:ln>
            <a:noFill/>
          </a:ln>
        </p:spPr>
        <p:txBody>
          <a:bodyPr anchorCtr="0" anchor="ctr" bIns="104925" lIns="104925" spcFirstLastPara="1" rIns="104925" wrap="square" tIns="104925">
            <a:noAutofit/>
          </a:bodyPr>
          <a:lstStyle/>
          <a:p>
            <a:pPr indent="0" lvl="0" marL="0" rtl="0" algn="l">
              <a:spcBef>
                <a:spcPts val="0"/>
              </a:spcBef>
              <a:spcAft>
                <a:spcPts val="0"/>
              </a:spcAft>
              <a:buNone/>
            </a:pPr>
            <a:r>
              <a:t/>
            </a:r>
            <a:endParaRPr/>
          </a:p>
        </p:txBody>
      </p:sp>
      <p:grpSp>
        <p:nvGrpSpPr>
          <p:cNvPr id="125" name="Google Shape;125;p18"/>
          <p:cNvGrpSpPr/>
          <p:nvPr/>
        </p:nvGrpSpPr>
        <p:grpSpPr>
          <a:xfrm>
            <a:off x="240550" y="1177300"/>
            <a:ext cx="3405476" cy="894416"/>
            <a:chOff x="816183" y="874342"/>
            <a:chExt cx="2966442" cy="779108"/>
          </a:xfrm>
        </p:grpSpPr>
        <p:cxnSp>
          <p:nvCxnSpPr>
            <p:cNvPr id="126" name="Google Shape;126;p18"/>
            <p:cNvCxnSpPr/>
            <p:nvPr/>
          </p:nvCxnSpPr>
          <p:spPr>
            <a:xfrm>
              <a:off x="3438525" y="1309350"/>
              <a:ext cx="344100" cy="344100"/>
            </a:xfrm>
            <a:prstGeom prst="straightConnector1">
              <a:avLst/>
            </a:prstGeom>
            <a:noFill/>
            <a:ln cap="flat" cmpd="sng" w="21850">
              <a:solidFill>
                <a:srgbClr val="249C91"/>
              </a:solidFill>
              <a:prstDash val="solid"/>
              <a:round/>
              <a:headEnd len="med" w="med" type="oval"/>
              <a:tailEnd len="sm" w="sm" type="none"/>
            </a:ln>
          </p:spPr>
        </p:cxnSp>
        <p:sp>
          <p:nvSpPr>
            <p:cNvPr id="127" name="Google Shape;127;p18"/>
            <p:cNvSpPr txBox="1"/>
            <p:nvPr/>
          </p:nvSpPr>
          <p:spPr>
            <a:xfrm>
              <a:off x="816183" y="874342"/>
              <a:ext cx="2579400" cy="669600"/>
            </a:xfrm>
            <a:prstGeom prst="rect">
              <a:avLst/>
            </a:prstGeom>
            <a:noFill/>
            <a:ln>
              <a:noFill/>
            </a:ln>
          </p:spPr>
          <p:txBody>
            <a:bodyPr anchorCtr="0" anchor="t" bIns="104925" lIns="104925" spcFirstLastPara="1" rIns="104925" wrap="square" tIns="104925">
              <a:noAutofit/>
            </a:bodyPr>
            <a:lstStyle/>
            <a:p>
              <a:pPr indent="0" lvl="0" marL="0" rtl="0" algn="r">
                <a:lnSpc>
                  <a:spcPct val="115000"/>
                </a:lnSpc>
                <a:spcBef>
                  <a:spcPts val="0"/>
                </a:spcBef>
                <a:spcAft>
                  <a:spcPts val="0"/>
                </a:spcAft>
                <a:buNone/>
              </a:pPr>
              <a:r>
                <a:rPr lang="en" sz="2000">
                  <a:solidFill>
                    <a:schemeClr val="lt1"/>
                  </a:solidFill>
                  <a:latin typeface="Proxima Nova"/>
                  <a:ea typeface="Proxima Nova"/>
                  <a:cs typeface="Proxima Nova"/>
                  <a:sym typeface="Proxima Nova"/>
                </a:rPr>
                <a:t>Dangerous Community Submitted Directives</a:t>
              </a:r>
              <a:endParaRPr b="1" sz="2000">
                <a:solidFill>
                  <a:schemeClr val="lt1"/>
                </a:solidFill>
                <a:latin typeface="Proxima Nova"/>
                <a:ea typeface="Proxima Nova"/>
                <a:cs typeface="Proxima Nova"/>
                <a:sym typeface="Proxima Nova"/>
              </a:endParaRPr>
            </a:p>
          </p:txBody>
        </p:sp>
      </p:grpSp>
      <p:grpSp>
        <p:nvGrpSpPr>
          <p:cNvPr id="128" name="Google Shape;128;p18"/>
          <p:cNvGrpSpPr/>
          <p:nvPr/>
        </p:nvGrpSpPr>
        <p:grpSpPr>
          <a:xfrm>
            <a:off x="311106" y="3326163"/>
            <a:ext cx="3264358" cy="768701"/>
            <a:chOff x="937932" y="2940784"/>
            <a:chExt cx="2843518" cy="669600"/>
          </a:xfrm>
        </p:grpSpPr>
        <p:cxnSp>
          <p:nvCxnSpPr>
            <p:cNvPr id="129" name="Google Shape;129;p18"/>
            <p:cNvCxnSpPr/>
            <p:nvPr/>
          </p:nvCxnSpPr>
          <p:spPr>
            <a:xfrm flipH="1" rot="10800000">
              <a:off x="3436150" y="3214625"/>
              <a:ext cx="345300" cy="342900"/>
            </a:xfrm>
            <a:prstGeom prst="straightConnector1">
              <a:avLst/>
            </a:prstGeom>
            <a:noFill/>
            <a:ln cap="flat" cmpd="sng" w="21850">
              <a:solidFill>
                <a:srgbClr val="155B55"/>
              </a:solidFill>
              <a:prstDash val="solid"/>
              <a:round/>
              <a:headEnd len="med" w="med" type="oval"/>
              <a:tailEnd len="sm" w="sm" type="none"/>
            </a:ln>
          </p:spPr>
        </p:cxnSp>
        <p:sp>
          <p:nvSpPr>
            <p:cNvPr id="130" name="Google Shape;130;p18"/>
            <p:cNvSpPr txBox="1"/>
            <p:nvPr/>
          </p:nvSpPr>
          <p:spPr>
            <a:xfrm>
              <a:off x="937932" y="2940784"/>
              <a:ext cx="2357400" cy="669600"/>
            </a:xfrm>
            <a:prstGeom prst="rect">
              <a:avLst/>
            </a:prstGeom>
            <a:noFill/>
            <a:ln>
              <a:noFill/>
            </a:ln>
          </p:spPr>
          <p:txBody>
            <a:bodyPr anchorCtr="0" anchor="t" bIns="104925" lIns="104925" spcFirstLastPara="1" rIns="104925" wrap="square" tIns="104925">
              <a:noAutofit/>
            </a:bodyPr>
            <a:lstStyle/>
            <a:p>
              <a:pPr indent="0" lvl="0" marL="0" rtl="0" algn="r">
                <a:lnSpc>
                  <a:spcPct val="115000"/>
                </a:lnSpc>
                <a:spcBef>
                  <a:spcPts val="0"/>
                </a:spcBef>
                <a:spcAft>
                  <a:spcPts val="0"/>
                </a:spcAft>
                <a:buNone/>
              </a:pPr>
              <a:r>
                <a:rPr lang="en" sz="2000">
                  <a:solidFill>
                    <a:schemeClr val="lt1"/>
                  </a:solidFill>
                  <a:latin typeface="Proxima Nova"/>
                  <a:ea typeface="Proxima Nova"/>
                  <a:cs typeface="Proxima Nova"/>
                  <a:sym typeface="Proxima Nova"/>
                </a:rPr>
                <a:t>Lack of Directive Randomization </a:t>
              </a:r>
              <a:endParaRPr b="1" sz="2000">
                <a:solidFill>
                  <a:schemeClr val="lt1"/>
                </a:solidFill>
                <a:latin typeface="Proxima Nova"/>
                <a:ea typeface="Proxima Nova"/>
                <a:cs typeface="Proxima Nova"/>
                <a:sym typeface="Proxima Nova"/>
              </a:endParaRPr>
            </a:p>
          </p:txBody>
        </p:sp>
      </p:grpSp>
      <p:sp>
        <p:nvSpPr>
          <p:cNvPr id="131" name="Google Shape;131;p18"/>
          <p:cNvSpPr/>
          <p:nvPr/>
        </p:nvSpPr>
        <p:spPr>
          <a:xfrm flipH="1" rot="-1800389">
            <a:off x="3002662" y="1420753"/>
            <a:ext cx="3088795" cy="3088795"/>
          </a:xfrm>
          <a:prstGeom prst="blockArc">
            <a:avLst>
              <a:gd fmla="val 14348563" name="adj1"/>
              <a:gd fmla="val 19872341" name="adj2"/>
              <a:gd fmla="val 9100" name="adj3"/>
            </a:avLst>
          </a:prstGeom>
          <a:solidFill>
            <a:srgbClr val="249C91"/>
          </a:solidFill>
          <a:ln>
            <a:noFill/>
          </a:ln>
          <a:effectLst>
            <a:outerShdw blurRad="82008" rotWithShape="0" algn="bl" dir="5400000" dist="10934">
              <a:srgbClr val="000000">
                <a:alpha val="40000"/>
              </a:srgbClr>
            </a:outerShdw>
          </a:effectLst>
        </p:spPr>
        <p:txBody>
          <a:bodyPr anchorCtr="0" anchor="ctr" bIns="104925" lIns="104925" spcFirstLastPara="1" rIns="104925" wrap="square" tIns="104925">
            <a:noAutofit/>
          </a:bodyPr>
          <a:lstStyle/>
          <a:p>
            <a:pPr indent="0" lvl="0" marL="0" rtl="0" algn="l">
              <a:spcBef>
                <a:spcPts val="0"/>
              </a:spcBef>
              <a:spcAft>
                <a:spcPts val="0"/>
              </a:spcAft>
              <a:buNone/>
            </a:pPr>
            <a:r>
              <a:t/>
            </a:r>
            <a:endParaRPr/>
          </a:p>
        </p:txBody>
      </p:sp>
      <p:grpSp>
        <p:nvGrpSpPr>
          <p:cNvPr id="132" name="Google Shape;132;p18"/>
          <p:cNvGrpSpPr/>
          <p:nvPr/>
        </p:nvGrpSpPr>
        <p:grpSpPr>
          <a:xfrm>
            <a:off x="5437824" y="3421200"/>
            <a:ext cx="3704628" cy="768701"/>
            <a:chOff x="5343425" y="2896664"/>
            <a:chExt cx="3227028" cy="669600"/>
          </a:xfrm>
        </p:grpSpPr>
        <p:cxnSp>
          <p:nvCxnSpPr>
            <p:cNvPr id="133" name="Google Shape;133;p18"/>
            <p:cNvCxnSpPr/>
            <p:nvPr/>
          </p:nvCxnSpPr>
          <p:spPr>
            <a:xfrm rot="10800000">
              <a:off x="5343425" y="3214625"/>
              <a:ext cx="354900" cy="350100"/>
            </a:xfrm>
            <a:prstGeom prst="straightConnector1">
              <a:avLst/>
            </a:prstGeom>
            <a:noFill/>
            <a:ln cap="flat" cmpd="sng" w="21850">
              <a:solidFill>
                <a:srgbClr val="249C91"/>
              </a:solidFill>
              <a:prstDash val="solid"/>
              <a:round/>
              <a:headEnd len="med" w="med" type="oval"/>
              <a:tailEnd len="sm" w="sm" type="none"/>
            </a:ln>
          </p:spPr>
        </p:cxnSp>
        <p:sp>
          <p:nvSpPr>
            <p:cNvPr id="134" name="Google Shape;134;p18"/>
            <p:cNvSpPr txBox="1"/>
            <p:nvPr/>
          </p:nvSpPr>
          <p:spPr>
            <a:xfrm>
              <a:off x="5806253" y="2896664"/>
              <a:ext cx="2764200" cy="669600"/>
            </a:xfrm>
            <a:prstGeom prst="rect">
              <a:avLst/>
            </a:prstGeom>
            <a:noFill/>
            <a:ln>
              <a:noFill/>
            </a:ln>
          </p:spPr>
          <p:txBody>
            <a:bodyPr anchorCtr="0" anchor="t" bIns="104925" lIns="104925" spcFirstLastPara="1" rIns="104925" wrap="square" tIns="104925">
              <a:noAutofit/>
            </a:bodyPr>
            <a:lstStyle/>
            <a:p>
              <a:pPr indent="0" lvl="0" marL="0" rtl="0" algn="l">
                <a:lnSpc>
                  <a:spcPct val="115000"/>
                </a:lnSpc>
                <a:spcBef>
                  <a:spcPts val="0"/>
                </a:spcBef>
                <a:spcAft>
                  <a:spcPts val="0"/>
                </a:spcAft>
                <a:buNone/>
              </a:pPr>
              <a:r>
                <a:rPr lang="en" sz="2000">
                  <a:solidFill>
                    <a:schemeClr val="lt1"/>
                  </a:solidFill>
                  <a:latin typeface="Proxima Nova"/>
                  <a:ea typeface="Proxima Nova"/>
                  <a:cs typeface="Proxima Nova"/>
                  <a:sym typeface="Proxima Nova"/>
                </a:rPr>
                <a:t>Ambiguous or Misinterpreted Directives</a:t>
              </a:r>
              <a:endParaRPr b="1" sz="2000">
                <a:solidFill>
                  <a:schemeClr val="lt1"/>
                </a:solidFill>
                <a:latin typeface="Proxima Nova"/>
                <a:ea typeface="Proxima Nova"/>
                <a:cs typeface="Proxima Nova"/>
                <a:sym typeface="Proxima Nova"/>
              </a:endParaRPr>
            </a:p>
          </p:txBody>
        </p:sp>
      </p:grpSp>
      <p:grpSp>
        <p:nvGrpSpPr>
          <p:cNvPr id="135" name="Google Shape;135;p18"/>
          <p:cNvGrpSpPr/>
          <p:nvPr/>
        </p:nvGrpSpPr>
        <p:grpSpPr>
          <a:xfrm>
            <a:off x="5439374" y="1177287"/>
            <a:ext cx="3278302" cy="894428"/>
            <a:chOff x="5344775" y="874331"/>
            <a:chExt cx="2855664" cy="779119"/>
          </a:xfrm>
        </p:grpSpPr>
        <p:cxnSp>
          <p:nvCxnSpPr>
            <p:cNvPr id="136" name="Google Shape;136;p18"/>
            <p:cNvCxnSpPr/>
            <p:nvPr/>
          </p:nvCxnSpPr>
          <p:spPr>
            <a:xfrm flipH="1">
              <a:off x="5344775" y="1314450"/>
              <a:ext cx="336900" cy="339000"/>
            </a:xfrm>
            <a:prstGeom prst="straightConnector1">
              <a:avLst/>
            </a:prstGeom>
            <a:noFill/>
            <a:ln cap="flat" cmpd="sng" w="21850">
              <a:solidFill>
                <a:srgbClr val="155B55"/>
              </a:solidFill>
              <a:prstDash val="solid"/>
              <a:round/>
              <a:headEnd len="med" w="med" type="oval"/>
              <a:tailEnd len="sm" w="sm" type="none"/>
            </a:ln>
          </p:spPr>
        </p:cxnSp>
        <p:sp>
          <p:nvSpPr>
            <p:cNvPr id="137" name="Google Shape;137;p18"/>
            <p:cNvSpPr txBox="1"/>
            <p:nvPr/>
          </p:nvSpPr>
          <p:spPr>
            <a:xfrm>
              <a:off x="5713439" y="874331"/>
              <a:ext cx="2487000" cy="669600"/>
            </a:xfrm>
            <a:prstGeom prst="rect">
              <a:avLst/>
            </a:prstGeom>
            <a:noFill/>
            <a:ln>
              <a:noFill/>
            </a:ln>
          </p:spPr>
          <p:txBody>
            <a:bodyPr anchorCtr="0" anchor="t" bIns="104925" lIns="104925" spcFirstLastPara="1" rIns="104925" wrap="square" tIns="104925">
              <a:noAutofit/>
            </a:bodyPr>
            <a:lstStyle/>
            <a:p>
              <a:pPr indent="0" lvl="0" marL="0" rtl="0" algn="l">
                <a:lnSpc>
                  <a:spcPct val="115000"/>
                </a:lnSpc>
                <a:spcBef>
                  <a:spcPts val="0"/>
                </a:spcBef>
                <a:spcAft>
                  <a:spcPts val="0"/>
                </a:spcAft>
                <a:buNone/>
              </a:pPr>
              <a:r>
                <a:rPr lang="en" sz="2000">
                  <a:solidFill>
                    <a:schemeClr val="lt1"/>
                  </a:solidFill>
                  <a:latin typeface="Proxima Nova"/>
                  <a:ea typeface="Proxima Nova"/>
                  <a:cs typeface="Proxima Nova"/>
                  <a:sym typeface="Proxima Nova"/>
                </a:rPr>
                <a:t>Excessive/Poorly-Timed Notifications </a:t>
              </a:r>
              <a:endParaRPr b="1" sz="2000">
                <a:solidFill>
                  <a:schemeClr val="lt1"/>
                </a:solidFill>
                <a:latin typeface="Proxima Nova"/>
                <a:ea typeface="Proxima Nova"/>
                <a:cs typeface="Proxima Nova"/>
                <a:sym typeface="Proxima Nova"/>
              </a:endParaRPr>
            </a:p>
          </p:txBody>
        </p:sp>
      </p:grpSp>
      <p:sp>
        <p:nvSpPr>
          <p:cNvPr id="138" name="Google Shape;138;p18"/>
          <p:cNvSpPr txBox="1"/>
          <p:nvPr/>
        </p:nvSpPr>
        <p:spPr>
          <a:xfrm>
            <a:off x="3610650" y="2497788"/>
            <a:ext cx="1922700" cy="923400"/>
          </a:xfrm>
          <a:prstGeom prst="rect">
            <a:avLst/>
          </a:prstGeom>
          <a:noFill/>
          <a:ln>
            <a:noFill/>
          </a:ln>
        </p:spPr>
        <p:txBody>
          <a:bodyPr anchorCtr="0" anchor="ctr" bIns="104925" lIns="104925" spcFirstLastPara="1" rIns="104925" wrap="square" tIns="104925">
            <a:noAutofit/>
          </a:bodyPr>
          <a:lstStyle/>
          <a:p>
            <a:pPr indent="0" lvl="0" marL="0" rtl="0" algn="ctr">
              <a:lnSpc>
                <a:spcPct val="115000"/>
              </a:lnSpc>
              <a:spcBef>
                <a:spcPts val="0"/>
              </a:spcBef>
              <a:spcAft>
                <a:spcPts val="0"/>
              </a:spcAft>
              <a:buNone/>
            </a:pPr>
            <a:r>
              <a:rPr b="1" lang="en" sz="1550">
                <a:solidFill>
                  <a:schemeClr val="lt1"/>
                </a:solidFill>
                <a:latin typeface="Proxima Nova"/>
                <a:ea typeface="Proxima Nova"/>
                <a:cs typeface="Proxima Nova"/>
                <a:sym typeface="Proxima Nova"/>
              </a:rPr>
              <a:t>Continuous Review for Safety &amp; Usability</a:t>
            </a:r>
            <a:endParaRPr sz="1550">
              <a:solidFill>
                <a:schemeClr val="lt1"/>
              </a:solidFill>
              <a:latin typeface="Proxima Nova"/>
              <a:ea typeface="Proxima Nova"/>
              <a:cs typeface="Proxima Nova"/>
              <a:sym typeface="Proxima Nova"/>
            </a:endParaRPr>
          </a:p>
        </p:txBody>
      </p:sp>
      <p:sp>
        <p:nvSpPr>
          <p:cNvPr id="139" name="Google Shape;139;p18"/>
          <p:cNvSpPr/>
          <p:nvPr/>
        </p:nvSpPr>
        <p:spPr>
          <a:xfrm rot="1800389">
            <a:off x="2999710" y="1420753"/>
            <a:ext cx="3088795" cy="3088795"/>
          </a:xfrm>
          <a:prstGeom prst="blockArc">
            <a:avLst>
              <a:gd fmla="val 14545937" name="adj1"/>
              <a:gd fmla="val 19902139" name="adj2"/>
              <a:gd fmla="val 9115" name="adj3"/>
            </a:avLst>
          </a:prstGeom>
          <a:solidFill>
            <a:srgbClr val="155B55"/>
          </a:solidFill>
          <a:ln>
            <a:noFill/>
          </a:ln>
          <a:effectLst>
            <a:outerShdw blurRad="82008" rotWithShape="0" algn="bl" dir="5400000" dist="10934">
              <a:srgbClr val="000000">
                <a:alpha val="40000"/>
              </a:srgbClr>
            </a:outerShdw>
          </a:effectLst>
        </p:spPr>
        <p:txBody>
          <a:bodyPr anchorCtr="0" anchor="ctr" bIns="104925" lIns="104925" spcFirstLastPara="1" rIns="104925" wrap="square" tIns="104925">
            <a:noAutofit/>
          </a:bodyPr>
          <a:lstStyle/>
          <a:p>
            <a:pPr indent="0" lvl="0" marL="0" rtl="0" algn="l">
              <a:spcBef>
                <a:spcPts val="0"/>
              </a:spcBef>
              <a:spcAft>
                <a:spcPts val="0"/>
              </a:spcAft>
              <a:buNone/>
            </a:pPr>
            <a:r>
              <a:t/>
            </a:r>
            <a:endParaRPr/>
          </a:p>
        </p:txBody>
      </p:sp>
      <p:sp>
        <p:nvSpPr>
          <p:cNvPr id="140" name="Google Shape;140;p18"/>
          <p:cNvSpPr/>
          <p:nvPr/>
        </p:nvSpPr>
        <p:spPr>
          <a:xfrm rot="9000479">
            <a:off x="2992948" y="1420441"/>
            <a:ext cx="3088345" cy="3088345"/>
          </a:xfrm>
          <a:prstGeom prst="blockArc">
            <a:avLst>
              <a:gd fmla="val 18041678" name="adj1"/>
              <a:gd fmla="val 1798478" name="adj2"/>
              <a:gd fmla="val 9595" name="adj3"/>
            </a:avLst>
          </a:prstGeom>
          <a:solidFill>
            <a:srgbClr val="155B55"/>
          </a:solidFill>
          <a:ln>
            <a:noFill/>
          </a:ln>
          <a:effectLst>
            <a:outerShdw blurRad="82008" rotWithShape="0" algn="bl" dist="10934">
              <a:srgbClr val="000000">
                <a:alpha val="40000"/>
              </a:srgbClr>
            </a:outerShdw>
          </a:effectLst>
        </p:spPr>
        <p:txBody>
          <a:bodyPr anchorCtr="0" anchor="ctr" bIns="104925" lIns="104925" spcFirstLastPara="1" rIns="104925" wrap="square" tIns="104925">
            <a:noAutofit/>
          </a:bodyPr>
          <a:lstStyle/>
          <a:p>
            <a:pPr indent="0" lvl="0" marL="0" rtl="0" algn="l">
              <a:spcBef>
                <a:spcPts val="0"/>
              </a:spcBef>
              <a:spcAft>
                <a:spcPts val="0"/>
              </a:spcAft>
              <a:buNone/>
            </a:pPr>
            <a:r>
              <a:t/>
            </a:r>
            <a:endParaRPr/>
          </a:p>
        </p:txBody>
      </p:sp>
      <p:sp>
        <p:nvSpPr>
          <p:cNvPr id="141" name="Google Shape;141;p18"/>
          <p:cNvSpPr/>
          <p:nvPr/>
        </p:nvSpPr>
        <p:spPr>
          <a:xfrm flipH="1" rot="-9000479">
            <a:off x="3001941" y="1421302"/>
            <a:ext cx="3088345" cy="3088345"/>
          </a:xfrm>
          <a:prstGeom prst="blockArc">
            <a:avLst>
              <a:gd fmla="val 17967225" name="adj1"/>
              <a:gd fmla="val 1529547" name="adj2"/>
              <a:gd fmla="val 9279" name="adj3"/>
            </a:avLst>
          </a:prstGeom>
          <a:solidFill>
            <a:srgbClr val="249C91"/>
          </a:solidFill>
          <a:ln>
            <a:noFill/>
          </a:ln>
          <a:effectLst>
            <a:outerShdw blurRad="82008" rotWithShape="0" algn="bl" dir="5400000" dist="10934">
              <a:srgbClr val="000000">
                <a:alpha val="40000"/>
              </a:srgbClr>
            </a:outerShdw>
          </a:effectLst>
        </p:spPr>
        <p:txBody>
          <a:bodyPr anchorCtr="0" anchor="ctr" bIns="104925" lIns="104925" spcFirstLastPara="1" rIns="104925" wrap="square" tIns="104925">
            <a:noAutofit/>
          </a:bodyPr>
          <a:lstStyle/>
          <a:p>
            <a:pPr indent="0" lvl="0" marL="0" rtl="0" algn="l">
              <a:spcBef>
                <a:spcPts val="0"/>
              </a:spcBef>
              <a:spcAft>
                <a:spcPts val="0"/>
              </a:spcAft>
              <a:buNone/>
            </a:pPr>
            <a:r>
              <a:t/>
            </a:r>
            <a:endParaRPr/>
          </a:p>
        </p:txBody>
      </p:sp>
      <p:sp>
        <p:nvSpPr>
          <p:cNvPr id="142" name="Google Shape;142;p18"/>
          <p:cNvSpPr/>
          <p:nvPr/>
        </p:nvSpPr>
        <p:spPr>
          <a:xfrm rot="8100000">
            <a:off x="2938489" y="2765204"/>
            <a:ext cx="416627" cy="416627"/>
          </a:xfrm>
          <a:prstGeom prst="rtTriangle">
            <a:avLst/>
          </a:prstGeom>
          <a:solidFill>
            <a:srgbClr val="155B55"/>
          </a:solidFill>
          <a:ln>
            <a:noFill/>
          </a:ln>
        </p:spPr>
        <p:txBody>
          <a:bodyPr anchorCtr="0" anchor="ctr" bIns="104925" lIns="104925" spcFirstLastPara="1" rIns="104925" wrap="square" tIns="104925">
            <a:noAutofit/>
          </a:bodyPr>
          <a:lstStyle/>
          <a:p>
            <a:pPr indent="0" lvl="0" marL="0" rtl="0" algn="l">
              <a:spcBef>
                <a:spcPts val="0"/>
              </a:spcBef>
              <a:spcAft>
                <a:spcPts val="0"/>
              </a:spcAft>
              <a:buNone/>
            </a:pPr>
            <a:r>
              <a:t/>
            </a:r>
            <a:endParaRPr/>
          </a:p>
        </p:txBody>
      </p:sp>
      <p:sp>
        <p:nvSpPr>
          <p:cNvPr id="143" name="Google Shape;143;p18"/>
          <p:cNvSpPr/>
          <p:nvPr/>
        </p:nvSpPr>
        <p:spPr>
          <a:xfrm rot="-2700000">
            <a:off x="5730521" y="2756982"/>
            <a:ext cx="416627" cy="416627"/>
          </a:xfrm>
          <a:prstGeom prst="rtTriangle">
            <a:avLst/>
          </a:prstGeom>
          <a:solidFill>
            <a:srgbClr val="155B55"/>
          </a:solidFill>
          <a:ln>
            <a:noFill/>
          </a:ln>
        </p:spPr>
        <p:txBody>
          <a:bodyPr anchorCtr="0" anchor="ctr" bIns="104925" lIns="104925" spcFirstLastPara="1" rIns="104925" wrap="square" tIns="104925">
            <a:noAutofit/>
          </a:bodyPr>
          <a:lstStyle/>
          <a:p>
            <a:pPr indent="0" lvl="0" marL="0" rtl="0" algn="l">
              <a:spcBef>
                <a:spcPts val="0"/>
              </a:spcBef>
              <a:spcAft>
                <a:spcPts val="0"/>
              </a:spcAft>
              <a:buNone/>
            </a:pPr>
            <a:r>
              <a:t/>
            </a:r>
            <a:endParaRPr/>
          </a:p>
        </p:txBody>
      </p:sp>
      <p:sp>
        <p:nvSpPr>
          <p:cNvPr id="144" name="Google Shape;144;p18"/>
          <p:cNvSpPr/>
          <p:nvPr/>
        </p:nvSpPr>
        <p:spPr>
          <a:xfrm rot="2700000">
            <a:off x="4334102" y="4149020"/>
            <a:ext cx="416627" cy="416627"/>
          </a:xfrm>
          <a:prstGeom prst="rtTriangle">
            <a:avLst/>
          </a:prstGeom>
          <a:solidFill>
            <a:srgbClr val="249C91"/>
          </a:solidFill>
          <a:ln>
            <a:noFill/>
          </a:ln>
        </p:spPr>
        <p:txBody>
          <a:bodyPr anchorCtr="0" anchor="ctr" bIns="104925" lIns="104925" spcFirstLastPara="1" rIns="104925" wrap="square" tIns="104925">
            <a:noAutofit/>
          </a:bodyPr>
          <a:lstStyle/>
          <a:p>
            <a:pPr indent="0" lvl="0" marL="0" rtl="0" algn="l">
              <a:spcBef>
                <a:spcPts val="0"/>
              </a:spcBef>
              <a:spcAft>
                <a:spcPts val="0"/>
              </a:spcAft>
              <a:buNone/>
            </a:pPr>
            <a:r>
              <a:t/>
            </a:r>
            <a:endParaRPr/>
          </a:p>
        </p:txBody>
      </p:sp>
      <p:sp>
        <p:nvSpPr>
          <p:cNvPr id="145" name="Google Shape;145;p18"/>
          <p:cNvSpPr/>
          <p:nvPr/>
        </p:nvSpPr>
        <p:spPr>
          <a:xfrm rot="-8100000">
            <a:off x="4334897" y="1353325"/>
            <a:ext cx="416627" cy="416627"/>
          </a:xfrm>
          <a:prstGeom prst="rtTriangle">
            <a:avLst/>
          </a:prstGeom>
          <a:solidFill>
            <a:srgbClr val="249C91"/>
          </a:solidFill>
          <a:ln>
            <a:noFill/>
          </a:ln>
        </p:spPr>
        <p:txBody>
          <a:bodyPr anchorCtr="0" anchor="ctr" bIns="104925" lIns="104925" spcFirstLastPara="1" rIns="104925" wrap="square" tIns="104925">
            <a:noAutofit/>
          </a:bodyPr>
          <a:lstStyle/>
          <a:p>
            <a:pPr indent="0" lvl="0" marL="0" rtl="0" algn="l">
              <a:spcBef>
                <a:spcPts val="0"/>
              </a:spcBef>
              <a:spcAft>
                <a:spcPts val="0"/>
              </a:spcAft>
              <a:buNone/>
            </a:pPr>
            <a:r>
              <a:t/>
            </a:r>
            <a:endParaRPr/>
          </a:p>
        </p:txBody>
      </p:sp>
      <p:sp>
        <p:nvSpPr>
          <p:cNvPr id="146" name="Google Shape;14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147" name="Google Shape;147;p18"/>
          <p:cNvSpPr txBox="1"/>
          <p:nvPr/>
        </p:nvSpPr>
        <p:spPr>
          <a:xfrm>
            <a:off x="574363" y="1984900"/>
            <a:ext cx="2514600" cy="68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chemeClr val="lt2"/>
                </a:solidFill>
                <a:latin typeface="Proxima Nova"/>
                <a:ea typeface="Proxima Nova"/>
                <a:cs typeface="Proxima Nova"/>
                <a:sym typeface="Proxima Nova"/>
              </a:rPr>
              <a:t>Mitigation Strategy:</a:t>
            </a:r>
            <a:endParaRPr sz="1200" u="sng">
              <a:solidFill>
                <a:schemeClr val="lt2"/>
              </a:solidFill>
              <a:latin typeface="Proxima Nova"/>
              <a:ea typeface="Proxima Nova"/>
              <a:cs typeface="Proxima Nova"/>
              <a:sym typeface="Proxima Nova"/>
            </a:endParaRPr>
          </a:p>
          <a:p>
            <a:pPr indent="0" lvl="0" marL="0" rtl="0" algn="l">
              <a:spcBef>
                <a:spcPts val="0"/>
              </a:spcBef>
              <a:spcAft>
                <a:spcPts val="0"/>
              </a:spcAft>
              <a:buNone/>
            </a:pPr>
            <a:r>
              <a:rPr lang="en" sz="1200">
                <a:solidFill>
                  <a:schemeClr val="lt2"/>
                </a:solidFill>
                <a:latin typeface="Proxima Nova"/>
                <a:ea typeface="Proxima Nova"/>
                <a:cs typeface="Proxima Nova"/>
                <a:sym typeface="Proxima Nova"/>
              </a:rPr>
              <a:t>Start with a closed, pre-approved directive set.</a:t>
            </a:r>
            <a:endParaRPr sz="1200">
              <a:solidFill>
                <a:schemeClr val="lt2"/>
              </a:solidFill>
              <a:latin typeface="Proxima Nova"/>
              <a:ea typeface="Proxima Nova"/>
              <a:cs typeface="Proxima Nova"/>
              <a:sym typeface="Proxima Nova"/>
            </a:endParaRPr>
          </a:p>
          <a:p>
            <a:pPr indent="0" lvl="0" marL="0" rtl="0" algn="l">
              <a:spcBef>
                <a:spcPts val="0"/>
              </a:spcBef>
              <a:spcAft>
                <a:spcPts val="0"/>
              </a:spcAft>
              <a:buNone/>
            </a:pPr>
            <a:r>
              <a:t/>
            </a:r>
            <a:endParaRPr sz="1200" u="sng">
              <a:solidFill>
                <a:schemeClr val="lt2"/>
              </a:solidFill>
              <a:latin typeface="Proxima Nova"/>
              <a:ea typeface="Proxima Nova"/>
              <a:cs typeface="Proxima Nova"/>
              <a:sym typeface="Proxima Nova"/>
            </a:endParaRPr>
          </a:p>
        </p:txBody>
      </p:sp>
      <p:sp>
        <p:nvSpPr>
          <p:cNvPr id="148" name="Google Shape;148;p18"/>
          <p:cNvSpPr txBox="1"/>
          <p:nvPr/>
        </p:nvSpPr>
        <p:spPr>
          <a:xfrm>
            <a:off x="6233425" y="1984900"/>
            <a:ext cx="2693700" cy="68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chemeClr val="lt2"/>
                </a:solidFill>
                <a:latin typeface="Proxima Nova"/>
                <a:ea typeface="Proxima Nova"/>
                <a:cs typeface="Proxima Nova"/>
                <a:sym typeface="Proxima Nova"/>
              </a:rPr>
              <a:t>Mitigation Strategy:</a:t>
            </a:r>
            <a:endParaRPr sz="1200" u="sng">
              <a:solidFill>
                <a:schemeClr val="lt2"/>
              </a:solidFill>
              <a:latin typeface="Proxima Nova"/>
              <a:ea typeface="Proxima Nova"/>
              <a:cs typeface="Proxima Nova"/>
              <a:sym typeface="Proxima Nova"/>
            </a:endParaRPr>
          </a:p>
          <a:p>
            <a:pPr indent="0" lvl="0" marL="0" rtl="0" algn="l">
              <a:spcBef>
                <a:spcPts val="0"/>
              </a:spcBef>
              <a:spcAft>
                <a:spcPts val="0"/>
              </a:spcAft>
              <a:buNone/>
            </a:pPr>
            <a:r>
              <a:rPr lang="en" sz="1200">
                <a:solidFill>
                  <a:schemeClr val="lt2"/>
                </a:solidFill>
                <a:latin typeface="Proxima Nova"/>
                <a:ea typeface="Proxima Nova"/>
                <a:cs typeface="Proxima Nova"/>
                <a:sym typeface="Proxima Nova"/>
              </a:rPr>
              <a:t>Allow users to set Active Hours and notification frequency to prevent interruptions.</a:t>
            </a:r>
            <a:endParaRPr sz="1200">
              <a:solidFill>
                <a:schemeClr val="lt2"/>
              </a:solidFill>
              <a:latin typeface="Proxima Nova"/>
              <a:ea typeface="Proxima Nova"/>
              <a:cs typeface="Proxima Nova"/>
              <a:sym typeface="Proxima Nova"/>
            </a:endParaRPr>
          </a:p>
        </p:txBody>
      </p:sp>
      <p:sp>
        <p:nvSpPr>
          <p:cNvPr id="149" name="Google Shape;149;p18"/>
          <p:cNvSpPr txBox="1"/>
          <p:nvPr/>
        </p:nvSpPr>
        <p:spPr>
          <a:xfrm>
            <a:off x="786000" y="41529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50" name="Google Shape;150;p18"/>
          <p:cNvSpPr txBox="1"/>
          <p:nvPr/>
        </p:nvSpPr>
        <p:spPr>
          <a:xfrm>
            <a:off x="1000500" y="4152925"/>
            <a:ext cx="30000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u="sng">
                <a:solidFill>
                  <a:schemeClr val="lt2"/>
                </a:solidFill>
                <a:latin typeface="Proxima Nova"/>
                <a:ea typeface="Proxima Nova"/>
                <a:cs typeface="Proxima Nova"/>
                <a:sym typeface="Proxima Nova"/>
              </a:rPr>
              <a:t>Mitigation Strategy:</a:t>
            </a:r>
            <a:endParaRPr sz="1200" u="sng">
              <a:solidFill>
                <a:schemeClr val="lt2"/>
              </a:solidFill>
              <a:latin typeface="Proxima Nova"/>
              <a:ea typeface="Proxima Nova"/>
              <a:cs typeface="Proxima Nova"/>
              <a:sym typeface="Proxima Nova"/>
            </a:endParaRPr>
          </a:p>
          <a:p>
            <a:pPr indent="0" lvl="0" marL="0" rtl="0" algn="l">
              <a:spcBef>
                <a:spcPts val="0"/>
              </a:spcBef>
              <a:spcAft>
                <a:spcPts val="0"/>
              </a:spcAft>
              <a:buNone/>
            </a:pPr>
            <a:r>
              <a:rPr lang="en" sz="1200">
                <a:solidFill>
                  <a:schemeClr val="lt2"/>
                </a:solidFill>
                <a:latin typeface="Proxima Nova"/>
                <a:ea typeface="Proxima Nova"/>
                <a:cs typeface="Proxima Nova"/>
                <a:sym typeface="Proxima Nova"/>
              </a:rPr>
              <a:t>Tag directives by category and track recently used prompts.</a:t>
            </a:r>
            <a:endParaRPr sz="1200">
              <a:solidFill>
                <a:schemeClr val="lt2"/>
              </a:solidFill>
              <a:latin typeface="Proxima Nova"/>
              <a:ea typeface="Proxima Nova"/>
              <a:cs typeface="Proxima Nova"/>
              <a:sym typeface="Proxima Nova"/>
            </a:endParaRPr>
          </a:p>
          <a:p>
            <a:pPr indent="0" lvl="0" marL="0" rtl="0" algn="l">
              <a:spcBef>
                <a:spcPts val="0"/>
              </a:spcBef>
              <a:spcAft>
                <a:spcPts val="0"/>
              </a:spcAft>
              <a:buNone/>
            </a:pPr>
            <a:r>
              <a:t/>
            </a:r>
            <a:endParaRPr sz="1200" u="sng">
              <a:solidFill>
                <a:schemeClr val="lt2"/>
              </a:solidFill>
              <a:latin typeface="Proxima Nova"/>
              <a:ea typeface="Proxima Nova"/>
              <a:cs typeface="Proxima Nova"/>
              <a:sym typeface="Proxima Nova"/>
            </a:endParaRPr>
          </a:p>
        </p:txBody>
      </p:sp>
      <p:sp>
        <p:nvSpPr>
          <p:cNvPr id="151" name="Google Shape;151;p18"/>
          <p:cNvSpPr txBox="1"/>
          <p:nvPr/>
        </p:nvSpPr>
        <p:spPr>
          <a:xfrm>
            <a:off x="5902638" y="4220100"/>
            <a:ext cx="30000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u="sng">
                <a:solidFill>
                  <a:schemeClr val="lt2"/>
                </a:solidFill>
                <a:latin typeface="Proxima Nova"/>
                <a:ea typeface="Proxima Nova"/>
                <a:cs typeface="Proxima Nova"/>
                <a:sym typeface="Proxima Nova"/>
              </a:rPr>
              <a:t>Mitigation Strategy:</a:t>
            </a:r>
            <a:endParaRPr sz="1200" u="sng">
              <a:solidFill>
                <a:schemeClr val="lt2"/>
              </a:solidFill>
              <a:latin typeface="Proxima Nova"/>
              <a:ea typeface="Proxima Nova"/>
              <a:cs typeface="Proxima Nova"/>
              <a:sym typeface="Proxima Nova"/>
            </a:endParaRPr>
          </a:p>
          <a:p>
            <a:pPr indent="0" lvl="0" marL="0" rtl="0" algn="l">
              <a:spcBef>
                <a:spcPts val="0"/>
              </a:spcBef>
              <a:spcAft>
                <a:spcPts val="0"/>
              </a:spcAft>
              <a:buNone/>
            </a:pPr>
            <a:r>
              <a:rPr lang="en" sz="1200">
                <a:solidFill>
                  <a:schemeClr val="lt2"/>
                </a:solidFill>
                <a:latin typeface="Proxima Nova"/>
                <a:ea typeface="Proxima Nova"/>
                <a:cs typeface="Proxima Nova"/>
                <a:sym typeface="Proxima Nova"/>
              </a:rPr>
              <a:t>Review directive wording with the client before adding them to the database.</a:t>
            </a:r>
            <a:endParaRPr sz="1200">
              <a:solidFill>
                <a:schemeClr val="lt2"/>
              </a:solidFill>
              <a:latin typeface="Proxima Nova"/>
              <a:ea typeface="Proxima Nova"/>
              <a:cs typeface="Proxima Nova"/>
              <a:sym typeface="Proxima Nova"/>
            </a:endParaRPr>
          </a:p>
          <a:p>
            <a:pPr indent="0" lvl="0" marL="0" rtl="0" algn="l">
              <a:spcBef>
                <a:spcPts val="0"/>
              </a:spcBef>
              <a:spcAft>
                <a:spcPts val="0"/>
              </a:spcAft>
              <a:buNone/>
            </a:pPr>
            <a:r>
              <a:t/>
            </a:r>
            <a:endParaRPr sz="1200" u="sng">
              <a:solidFill>
                <a:schemeClr val="lt2"/>
              </a:solidFill>
              <a:latin typeface="Proxima Nova"/>
              <a:ea typeface="Proxima Nova"/>
              <a:cs typeface="Proxima Nova"/>
              <a:sym typeface="Proxima Nov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9"/>
          <p:cNvSpPr txBox="1"/>
          <p:nvPr>
            <p:ph type="ctrTitle"/>
          </p:nvPr>
        </p:nvSpPr>
        <p:spPr>
          <a:xfrm>
            <a:off x="510463" y="0"/>
            <a:ext cx="8123100" cy="868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Schedule</a:t>
            </a:r>
            <a:endParaRPr/>
          </a:p>
        </p:txBody>
      </p:sp>
      <p:pic>
        <p:nvPicPr>
          <p:cNvPr id="157" name="Google Shape;157;p19" title="Blue Modern Project Timeline Gantt Chart.png"/>
          <p:cNvPicPr preferRelativeResize="0"/>
          <p:nvPr/>
        </p:nvPicPr>
        <p:blipFill rotWithShape="1">
          <a:blip r:embed="rId3">
            <a:alphaModFix/>
          </a:blip>
          <a:srcRect b="24800" l="0" r="0" t="0"/>
          <a:stretch/>
        </p:blipFill>
        <p:spPr>
          <a:xfrm>
            <a:off x="968962" y="890038"/>
            <a:ext cx="7206075" cy="4064125"/>
          </a:xfrm>
          <a:prstGeom prst="rect">
            <a:avLst/>
          </a:prstGeom>
          <a:noFill/>
          <a:ln cap="flat" cmpd="sng" w="28575">
            <a:solidFill>
              <a:schemeClr val="dk2"/>
            </a:solidFill>
            <a:prstDash val="solid"/>
            <a:round/>
            <a:headEnd len="sm" w="sm" type="none"/>
            <a:tailEnd len="sm" w="sm" type="none"/>
          </a:ln>
        </p:spPr>
      </p:pic>
      <p:sp>
        <p:nvSpPr>
          <p:cNvPr id="158" name="Google Shape;158;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0"/>
          <p:cNvSpPr txBox="1"/>
          <p:nvPr>
            <p:ph type="title"/>
          </p:nvPr>
        </p:nvSpPr>
        <p:spPr>
          <a:xfrm>
            <a:off x="265500" y="389125"/>
            <a:ext cx="4045200" cy="1191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Conclusion</a:t>
            </a:r>
            <a:endParaRPr/>
          </a:p>
        </p:txBody>
      </p:sp>
      <p:sp>
        <p:nvSpPr>
          <p:cNvPr id="164" name="Google Shape;164;p20"/>
          <p:cNvSpPr txBox="1"/>
          <p:nvPr>
            <p:ph idx="2" type="body"/>
          </p:nvPr>
        </p:nvSpPr>
        <p:spPr>
          <a:xfrm>
            <a:off x="4835400" y="74500"/>
            <a:ext cx="4045200" cy="4622700"/>
          </a:xfrm>
          <a:prstGeom prst="rect">
            <a:avLst/>
          </a:prstGeom>
        </p:spPr>
        <p:txBody>
          <a:bodyPr anchorCtr="0" anchor="ctr" bIns="91425" lIns="91425" spcFirstLastPara="1" rIns="91425" wrap="square" tIns="91425">
            <a:normAutofit lnSpcReduction="10000"/>
          </a:bodyPr>
          <a:lstStyle/>
          <a:p>
            <a:pPr indent="-381000" lvl="0" marL="457200" rtl="0" algn="l">
              <a:spcBef>
                <a:spcPts val="0"/>
              </a:spcBef>
              <a:spcAft>
                <a:spcPts val="0"/>
              </a:spcAft>
              <a:buSzPts val="2400"/>
              <a:buChar char="●"/>
            </a:pPr>
            <a:r>
              <a:rPr lang="en" sz="2400"/>
              <a:t>Fix scalability problem with a mobile app</a:t>
            </a:r>
            <a:br>
              <a:rPr lang="en" sz="2400"/>
            </a:br>
            <a:endParaRPr sz="2400"/>
          </a:p>
          <a:p>
            <a:pPr indent="-381000" lvl="0" marL="457200" rtl="0" algn="l">
              <a:spcBef>
                <a:spcPts val="0"/>
              </a:spcBef>
              <a:spcAft>
                <a:spcPts val="0"/>
              </a:spcAft>
              <a:buSzPts val="2400"/>
              <a:buChar char="●"/>
            </a:pPr>
            <a:r>
              <a:rPr lang="en" sz="2400"/>
              <a:t>Reduce workload on our client</a:t>
            </a:r>
            <a:br>
              <a:rPr lang="en" sz="2400"/>
            </a:br>
            <a:endParaRPr sz="2400"/>
          </a:p>
          <a:p>
            <a:pPr indent="-381000" lvl="0" marL="457200" rtl="0" algn="l">
              <a:spcBef>
                <a:spcPts val="0"/>
              </a:spcBef>
              <a:spcAft>
                <a:spcPts val="0"/>
              </a:spcAft>
              <a:buSzPts val="2400"/>
              <a:buChar char="●"/>
            </a:pPr>
            <a:r>
              <a:rPr lang="en" sz="2400"/>
              <a:t>Make awareness training more accessible</a:t>
            </a:r>
            <a:br>
              <a:rPr lang="en" sz="2400"/>
            </a:br>
            <a:endParaRPr sz="2400"/>
          </a:p>
          <a:p>
            <a:pPr indent="-381000" lvl="0" marL="457200" rtl="0" algn="l">
              <a:spcBef>
                <a:spcPts val="0"/>
              </a:spcBef>
              <a:spcAft>
                <a:spcPts val="0"/>
              </a:spcAft>
              <a:buSzPts val="2400"/>
              <a:buChar char="●"/>
            </a:pPr>
            <a:r>
              <a:rPr lang="en" sz="2400"/>
              <a:t>Solution revolves around 4 key f</a:t>
            </a:r>
            <a:r>
              <a:rPr lang="en" sz="2400"/>
              <a:t>eatures</a:t>
            </a:r>
            <a:endParaRPr sz="2400"/>
          </a:p>
        </p:txBody>
      </p:sp>
      <p:sp>
        <p:nvSpPr>
          <p:cNvPr id="165" name="Google Shape;165;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66" name="Google Shape;166;p20"/>
          <p:cNvPicPr preferRelativeResize="0"/>
          <p:nvPr/>
        </p:nvPicPr>
        <p:blipFill>
          <a:blip r:embed="rId3">
            <a:alphaModFix/>
          </a:blip>
          <a:stretch>
            <a:fillRect/>
          </a:stretch>
        </p:blipFill>
        <p:spPr>
          <a:xfrm>
            <a:off x="506439" y="1926652"/>
            <a:ext cx="3563325" cy="2591499"/>
          </a:xfrm>
          <a:prstGeom prst="rect">
            <a:avLst/>
          </a:prstGeom>
          <a:noFill/>
          <a:ln cap="flat" cmpd="sng" w="38100">
            <a:solidFill>
              <a:srgbClr val="4BA173"/>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1"/>
          <p:cNvSpPr txBox="1"/>
          <p:nvPr>
            <p:ph type="title"/>
          </p:nvPr>
        </p:nvSpPr>
        <p:spPr>
          <a:xfrm>
            <a:off x="475225" y="591400"/>
            <a:ext cx="4348200" cy="17250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Thank You!</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KIMinder360 Team</a:t>
            </a:r>
            <a:endParaRPr/>
          </a:p>
        </p:txBody>
      </p:sp>
      <p:pic>
        <p:nvPicPr>
          <p:cNvPr id="172" name="Google Shape;172;p21"/>
          <p:cNvPicPr preferRelativeResize="0"/>
          <p:nvPr/>
        </p:nvPicPr>
        <p:blipFill>
          <a:blip r:embed="rId3">
            <a:alphaModFix/>
          </a:blip>
          <a:stretch>
            <a:fillRect/>
          </a:stretch>
        </p:blipFill>
        <p:spPr>
          <a:xfrm>
            <a:off x="6593400" y="494750"/>
            <a:ext cx="1697400" cy="1657500"/>
          </a:xfrm>
          <a:prstGeom prst="rect">
            <a:avLst/>
          </a:prstGeom>
          <a:noFill/>
          <a:ln cap="flat" cmpd="sng" w="38100">
            <a:solidFill>
              <a:schemeClr val="lt2"/>
            </a:solidFill>
            <a:prstDash val="solid"/>
            <a:round/>
            <a:headEnd len="sm" w="sm" type="none"/>
            <a:tailEnd len="sm" w="sm" type="none"/>
          </a:ln>
        </p:spPr>
      </p:pic>
      <p:pic>
        <p:nvPicPr>
          <p:cNvPr id="173" name="Google Shape;173;p21" title="Cole_Headshot.JPEG"/>
          <p:cNvPicPr preferRelativeResize="0"/>
          <p:nvPr/>
        </p:nvPicPr>
        <p:blipFill>
          <a:blip r:embed="rId4">
            <a:alphaModFix/>
          </a:blip>
          <a:stretch>
            <a:fillRect/>
          </a:stretch>
        </p:blipFill>
        <p:spPr>
          <a:xfrm>
            <a:off x="5083150" y="3213318"/>
            <a:ext cx="969600" cy="1234800"/>
          </a:xfrm>
          <a:prstGeom prst="roundRect">
            <a:avLst>
              <a:gd fmla="val 16667" name="adj"/>
            </a:avLst>
          </a:prstGeom>
          <a:noFill/>
          <a:ln cap="flat" cmpd="sng" w="38100">
            <a:solidFill>
              <a:schemeClr val="lt2"/>
            </a:solidFill>
            <a:prstDash val="solid"/>
            <a:round/>
            <a:headEnd len="sm" w="sm" type="none"/>
            <a:tailEnd len="sm" w="sm" type="none"/>
          </a:ln>
        </p:spPr>
      </p:pic>
      <p:sp>
        <p:nvSpPr>
          <p:cNvPr id="174" name="Google Shape;174;p21"/>
          <p:cNvSpPr txBox="1"/>
          <p:nvPr/>
        </p:nvSpPr>
        <p:spPr>
          <a:xfrm>
            <a:off x="243475" y="4408200"/>
            <a:ext cx="2048700" cy="73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Proxima Nova"/>
                <a:ea typeface="Proxima Nova"/>
                <a:cs typeface="Proxima Nova"/>
                <a:sym typeface="Proxima Nova"/>
              </a:rPr>
              <a:t>Dylan Hyer</a:t>
            </a:r>
            <a:endParaRPr sz="18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800">
                <a:solidFill>
                  <a:schemeClr val="lt1"/>
                </a:solidFill>
                <a:latin typeface="Proxima Nova"/>
                <a:ea typeface="Proxima Nova"/>
                <a:cs typeface="Proxima Nova"/>
                <a:sym typeface="Proxima Nova"/>
              </a:rPr>
              <a:t>deh277@nau.</a:t>
            </a:r>
            <a:r>
              <a:rPr lang="en" sz="1800">
                <a:solidFill>
                  <a:schemeClr val="lt1"/>
                </a:solidFill>
                <a:latin typeface="Proxima Nova"/>
                <a:ea typeface="Proxima Nova"/>
                <a:cs typeface="Proxima Nova"/>
                <a:sym typeface="Proxima Nova"/>
              </a:rPr>
              <a:t>edu</a:t>
            </a:r>
            <a:endParaRPr sz="1800">
              <a:solidFill>
                <a:schemeClr val="lt1"/>
              </a:solidFill>
              <a:latin typeface="Proxima Nova"/>
              <a:ea typeface="Proxima Nova"/>
              <a:cs typeface="Proxima Nova"/>
              <a:sym typeface="Proxima Nova"/>
            </a:endParaRPr>
          </a:p>
          <a:p>
            <a:pPr indent="0" lvl="0" marL="0" rtl="0" algn="ctr">
              <a:spcBef>
                <a:spcPts val="0"/>
              </a:spcBef>
              <a:spcAft>
                <a:spcPts val="0"/>
              </a:spcAft>
              <a:buNone/>
            </a:pPr>
            <a:r>
              <a:t/>
            </a:r>
            <a:endParaRPr sz="1800">
              <a:solidFill>
                <a:schemeClr val="lt1"/>
              </a:solidFill>
              <a:latin typeface="Proxima Nova"/>
              <a:ea typeface="Proxima Nova"/>
              <a:cs typeface="Proxima Nova"/>
              <a:sym typeface="Proxima Nova"/>
            </a:endParaRPr>
          </a:p>
        </p:txBody>
      </p:sp>
      <p:sp>
        <p:nvSpPr>
          <p:cNvPr id="175" name="Google Shape;175;p21"/>
          <p:cNvSpPr txBox="1"/>
          <p:nvPr/>
        </p:nvSpPr>
        <p:spPr>
          <a:xfrm>
            <a:off x="2352725" y="4408200"/>
            <a:ext cx="2106900" cy="73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Proxima Nova"/>
                <a:ea typeface="Proxima Nova"/>
                <a:cs typeface="Proxima Nova"/>
                <a:sym typeface="Proxima Nova"/>
              </a:rPr>
              <a:t>Nyle Huntley</a:t>
            </a:r>
            <a:endParaRPr sz="18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800">
                <a:solidFill>
                  <a:schemeClr val="lt1"/>
                </a:solidFill>
                <a:latin typeface="Proxima Nova"/>
                <a:ea typeface="Proxima Nova"/>
                <a:cs typeface="Proxima Nova"/>
                <a:sym typeface="Proxima Nova"/>
              </a:rPr>
              <a:t>nah353@nau.edu</a:t>
            </a:r>
            <a:endParaRPr sz="1800">
              <a:solidFill>
                <a:schemeClr val="lt1"/>
              </a:solidFill>
              <a:latin typeface="Proxima Nova"/>
              <a:ea typeface="Proxima Nova"/>
              <a:cs typeface="Proxima Nova"/>
              <a:sym typeface="Proxima Nova"/>
            </a:endParaRPr>
          </a:p>
        </p:txBody>
      </p:sp>
      <p:sp>
        <p:nvSpPr>
          <p:cNvPr id="176" name="Google Shape;176;p21"/>
          <p:cNvSpPr txBox="1"/>
          <p:nvPr/>
        </p:nvSpPr>
        <p:spPr>
          <a:xfrm>
            <a:off x="6795450" y="4408200"/>
            <a:ext cx="1927200" cy="73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Proxima Nova"/>
                <a:ea typeface="Proxima Nova"/>
                <a:cs typeface="Proxima Nova"/>
                <a:sym typeface="Proxima Nova"/>
              </a:rPr>
              <a:t>Mayanna John</a:t>
            </a:r>
            <a:endParaRPr sz="18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800">
                <a:solidFill>
                  <a:schemeClr val="lt1"/>
                </a:solidFill>
                <a:latin typeface="Proxima Nova"/>
                <a:ea typeface="Proxima Nova"/>
                <a:cs typeface="Proxima Nova"/>
                <a:sym typeface="Proxima Nova"/>
              </a:rPr>
              <a:t>mrj335@nau.edu</a:t>
            </a:r>
            <a:endParaRPr sz="1800">
              <a:solidFill>
                <a:schemeClr val="lt1"/>
              </a:solidFill>
              <a:latin typeface="Proxima Nova"/>
              <a:ea typeface="Proxima Nova"/>
              <a:cs typeface="Proxima Nova"/>
              <a:sym typeface="Proxima Nova"/>
            </a:endParaRPr>
          </a:p>
        </p:txBody>
      </p:sp>
      <p:sp>
        <p:nvSpPr>
          <p:cNvPr id="177" name="Google Shape;177;p21"/>
          <p:cNvSpPr txBox="1"/>
          <p:nvPr/>
        </p:nvSpPr>
        <p:spPr>
          <a:xfrm>
            <a:off x="4520163" y="4408200"/>
            <a:ext cx="2048700" cy="73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Proxima Nova"/>
                <a:ea typeface="Proxima Nova"/>
                <a:cs typeface="Proxima Nova"/>
                <a:sym typeface="Proxima Nova"/>
              </a:rPr>
              <a:t>Cole Bishop</a:t>
            </a:r>
            <a:endParaRPr sz="18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800">
                <a:solidFill>
                  <a:schemeClr val="lt1"/>
                </a:solidFill>
                <a:latin typeface="Proxima Nova"/>
                <a:ea typeface="Proxima Nova"/>
                <a:cs typeface="Proxima Nova"/>
                <a:sym typeface="Proxima Nova"/>
              </a:rPr>
              <a:t>cdb499@nau.edu</a:t>
            </a:r>
            <a:endParaRPr sz="1800">
              <a:solidFill>
                <a:schemeClr val="lt1"/>
              </a:solidFill>
              <a:latin typeface="Proxima Nova"/>
              <a:ea typeface="Proxima Nova"/>
              <a:cs typeface="Proxima Nova"/>
              <a:sym typeface="Proxima Nova"/>
            </a:endParaRPr>
          </a:p>
        </p:txBody>
      </p:sp>
      <p:pic>
        <p:nvPicPr>
          <p:cNvPr id="178" name="Google Shape;178;p21" title="Dylan_Headshot.jpg"/>
          <p:cNvPicPr preferRelativeResize="0"/>
          <p:nvPr/>
        </p:nvPicPr>
        <p:blipFill>
          <a:blip r:embed="rId5">
            <a:alphaModFix/>
          </a:blip>
          <a:stretch>
            <a:fillRect/>
          </a:stretch>
        </p:blipFill>
        <p:spPr>
          <a:xfrm>
            <a:off x="628517" y="3213325"/>
            <a:ext cx="1278600" cy="1234800"/>
          </a:xfrm>
          <a:prstGeom prst="roundRect">
            <a:avLst>
              <a:gd fmla="val 16667" name="adj"/>
            </a:avLst>
          </a:prstGeom>
          <a:noFill/>
          <a:ln cap="flat" cmpd="sng" w="38100">
            <a:solidFill>
              <a:schemeClr val="lt2"/>
            </a:solidFill>
            <a:prstDash val="solid"/>
            <a:round/>
            <a:headEnd len="sm" w="sm" type="none"/>
            <a:tailEnd len="sm" w="sm" type="none"/>
          </a:ln>
        </p:spPr>
      </p:pic>
      <p:pic>
        <p:nvPicPr>
          <p:cNvPr id="179" name="Google Shape;179;p21" title="Nyle_Headshot.jpg"/>
          <p:cNvPicPr preferRelativeResize="0"/>
          <p:nvPr/>
        </p:nvPicPr>
        <p:blipFill>
          <a:blip r:embed="rId6">
            <a:alphaModFix/>
          </a:blip>
          <a:stretch>
            <a:fillRect/>
          </a:stretch>
        </p:blipFill>
        <p:spPr>
          <a:xfrm>
            <a:off x="2911337" y="3213325"/>
            <a:ext cx="883800" cy="1234800"/>
          </a:xfrm>
          <a:prstGeom prst="roundRect">
            <a:avLst>
              <a:gd fmla="val 16667" name="adj"/>
            </a:avLst>
          </a:prstGeom>
          <a:noFill/>
          <a:ln cap="flat" cmpd="sng" w="38100">
            <a:solidFill>
              <a:schemeClr val="lt2"/>
            </a:solidFill>
            <a:prstDash val="solid"/>
            <a:round/>
            <a:headEnd len="sm" w="sm" type="none"/>
            <a:tailEnd len="sm" w="sm" type="none"/>
          </a:ln>
        </p:spPr>
      </p:pic>
      <p:pic>
        <p:nvPicPr>
          <p:cNvPr id="180" name="Google Shape;180;p21" title="Mayanna_Headshot.jpg"/>
          <p:cNvPicPr preferRelativeResize="0"/>
          <p:nvPr/>
        </p:nvPicPr>
        <p:blipFill>
          <a:blip r:embed="rId7">
            <a:alphaModFix/>
          </a:blip>
          <a:stretch>
            <a:fillRect/>
          </a:stretch>
        </p:blipFill>
        <p:spPr>
          <a:xfrm>
            <a:off x="7227300" y="3186163"/>
            <a:ext cx="969600" cy="1289100"/>
          </a:xfrm>
          <a:prstGeom prst="roundRect">
            <a:avLst>
              <a:gd fmla="val 16667" name="adj"/>
            </a:avLst>
          </a:prstGeom>
          <a:noFill/>
          <a:ln cap="flat" cmpd="sng" w="38100">
            <a:solidFill>
              <a:schemeClr val="lt2"/>
            </a:solidFill>
            <a:prstDash val="solid"/>
            <a:round/>
            <a:headEnd len="sm" w="sm" type="none"/>
            <a:tailEnd len="sm" w="sm" type="none"/>
          </a:ln>
        </p:spPr>
      </p:pic>
      <p:sp>
        <p:nvSpPr>
          <p:cNvPr id="181" name="Google Shape;181;p21"/>
          <p:cNvSpPr txBox="1"/>
          <p:nvPr/>
        </p:nvSpPr>
        <p:spPr>
          <a:xfrm>
            <a:off x="475225" y="2316300"/>
            <a:ext cx="4023300" cy="4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Proxima Nova"/>
                <a:ea typeface="Proxima Nova"/>
                <a:cs typeface="Proxima Nova"/>
                <a:sym typeface="Proxima Nova"/>
              </a:rPr>
              <a:t>Please Contact us with any Questions!</a:t>
            </a:r>
            <a:endParaRPr sz="1800">
              <a:solidFill>
                <a:schemeClr val="lt1"/>
              </a:solidFill>
              <a:latin typeface="Proxima Nova"/>
              <a:ea typeface="Proxima Nova"/>
              <a:cs typeface="Proxima Nova"/>
              <a:sym typeface="Proxima Nova"/>
            </a:endParaRPr>
          </a:p>
        </p:txBody>
      </p:sp>
      <p:sp>
        <p:nvSpPr>
          <p:cNvPr id="182" name="Google Shape;182;p21"/>
          <p:cNvSpPr/>
          <p:nvPr/>
        </p:nvSpPr>
        <p:spPr>
          <a:xfrm>
            <a:off x="6567600" y="2316300"/>
            <a:ext cx="1749000" cy="402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83" name="Google Shape;183;p21"/>
          <p:cNvSpPr txBox="1"/>
          <p:nvPr/>
        </p:nvSpPr>
        <p:spPr>
          <a:xfrm>
            <a:off x="6649500" y="2262153"/>
            <a:ext cx="1585200" cy="51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Proxima Nova"/>
                <a:ea typeface="Proxima Nova"/>
                <a:cs typeface="Proxima Nova"/>
                <a:sym typeface="Proxima Nova"/>
              </a:rPr>
              <a:t>Our Website!</a:t>
            </a:r>
            <a:endParaRPr sz="1800">
              <a:solidFill>
                <a:schemeClr val="dk1"/>
              </a:solidFill>
              <a:latin typeface="Proxima Nova"/>
              <a:ea typeface="Proxima Nova"/>
              <a:cs typeface="Proxima Nova"/>
              <a:sym typeface="Proxima Nova"/>
            </a:endParaRPr>
          </a:p>
        </p:txBody>
      </p:sp>
      <p:sp>
        <p:nvSpPr>
          <p:cNvPr id="184" name="Google Shape;184;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