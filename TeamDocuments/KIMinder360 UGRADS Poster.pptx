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0233600" cy="31089600"/>
  <p:notesSz cx="6858000" cy="9144000"/>
  <p:embeddedFontLst>
    <p:embeddedFont>
      <p:font typeface="Helvetica Neue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hOALFEsXgNdqgE8S8PrV11B9rm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738758-5190-4454-8C67-BF0E4FDED981}">
  <a:tblStyle styleId="{2E738758-5190-4454-8C67-BF0E4FDED98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" d="100"/>
          <a:sy n="16" d="100"/>
        </p:scale>
        <p:origin x="160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customschemas.google.com/relationships/presentationmetadata" Target="meta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4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08746" y="685800"/>
            <a:ext cx="484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9ea5d3ff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g3de9ea5d3ff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3017520" y="5088045"/>
            <a:ext cx="34198500" cy="10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00"/>
              <a:buFont typeface="Calibri"/>
              <a:buNone/>
              <a:defRPr sz="2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5029200" y="16329239"/>
            <a:ext cx="30175200" cy="7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0560"/>
              <a:buNone/>
              <a:defRPr sz="10560"/>
            </a:lvl1pPr>
            <a:lvl2pPr lvl="1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/>
            </a:lvl2pPr>
            <a:lvl3pPr lvl="2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920"/>
              <a:buNone/>
              <a:defRPr sz="7920"/>
            </a:lvl3pPr>
            <a:lvl4pPr lvl="3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/>
            </a:lvl4pPr>
            <a:lvl5pPr lvl="4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/>
            </a:lvl5pPr>
            <a:lvl6pPr lvl="5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/>
            </a:lvl6pPr>
            <a:lvl7pPr lvl="6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/>
            </a:lvl7pPr>
            <a:lvl8pPr lvl="7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/>
            </a:lvl8pPr>
            <a:lvl9pPr lvl="8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2766060" y="1655240"/>
            <a:ext cx="34701600" cy="60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2766060" y="8276167"/>
            <a:ext cx="34701600" cy="197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2745107" y="7750819"/>
            <a:ext cx="34701600" cy="12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00"/>
              <a:buFont typeface="Calibri"/>
              <a:buNone/>
              <a:defRPr sz="2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2745107" y="20805572"/>
            <a:ext cx="34701600" cy="6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0560"/>
              <a:buNone/>
              <a:defRPr sz="1056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888888"/>
              </a:buClr>
              <a:buSzPts val="8800"/>
              <a:buNone/>
              <a:defRPr sz="8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888888"/>
              </a:buClr>
              <a:buSzPts val="7920"/>
              <a:buNone/>
              <a:defRPr sz="792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888888"/>
              </a:buClr>
              <a:buSzPts val="7040"/>
              <a:buNone/>
              <a:defRPr sz="70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888888"/>
              </a:buClr>
              <a:buSzPts val="7040"/>
              <a:buNone/>
              <a:defRPr sz="70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888888"/>
              </a:buClr>
              <a:buSzPts val="7040"/>
              <a:buNone/>
              <a:defRPr sz="70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888888"/>
              </a:buClr>
              <a:buSzPts val="7040"/>
              <a:buNone/>
              <a:defRPr sz="70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888888"/>
              </a:buClr>
              <a:buSzPts val="7040"/>
              <a:buNone/>
              <a:defRPr sz="70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888888"/>
              </a:buClr>
              <a:buSzPts val="7040"/>
              <a:buNone/>
              <a:defRPr sz="70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2766060" y="1655240"/>
            <a:ext cx="34701600" cy="60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2766060" y="8276167"/>
            <a:ext cx="17099400" cy="197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20368260" y="8276167"/>
            <a:ext cx="17099400" cy="197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771300" y="1655240"/>
            <a:ext cx="34701600" cy="60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2771305" y="7621272"/>
            <a:ext cx="17020800" cy="3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0560"/>
              <a:buNone/>
              <a:defRPr sz="10560" b="1"/>
            </a:lvl1pPr>
            <a:lvl2pPr marL="914400" lvl="1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/>
            </a:lvl2pPr>
            <a:lvl3pPr marL="1371600" lvl="2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920"/>
              <a:buNone/>
              <a:defRPr sz="7920" b="1"/>
            </a:lvl3pPr>
            <a:lvl4pPr marL="1828800" lvl="3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4pPr>
            <a:lvl5pPr marL="2286000" lvl="4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5pPr>
            <a:lvl6pPr marL="2743200" lvl="5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6pPr>
            <a:lvl7pPr marL="3200400" lvl="6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7pPr>
            <a:lvl8pPr marL="3657600" lvl="7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8pPr>
            <a:lvl9pPr marL="4114800" lvl="8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2771305" y="11356340"/>
            <a:ext cx="17020800" cy="167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20368262" y="7621272"/>
            <a:ext cx="17104500" cy="3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0560"/>
              <a:buNone/>
              <a:defRPr sz="10560" b="1"/>
            </a:lvl1pPr>
            <a:lvl2pPr marL="914400" lvl="1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/>
            </a:lvl2pPr>
            <a:lvl3pPr marL="1371600" lvl="2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920"/>
              <a:buNone/>
              <a:defRPr sz="7920" b="1"/>
            </a:lvl3pPr>
            <a:lvl4pPr marL="1828800" lvl="3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4pPr>
            <a:lvl5pPr marL="2286000" lvl="4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5pPr>
            <a:lvl6pPr marL="2743200" lvl="5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6pPr>
            <a:lvl7pPr marL="3200400" lvl="6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7pPr>
            <a:lvl8pPr marL="3657600" lvl="7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8pPr>
            <a:lvl9pPr marL="4114800" lvl="8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20368262" y="11356340"/>
            <a:ext cx="17104500" cy="167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2766060" y="1655240"/>
            <a:ext cx="34701600" cy="60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2771301" y="2072640"/>
            <a:ext cx="12976500" cy="72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80"/>
              <a:buFont typeface="Calibri"/>
              <a:buNone/>
              <a:defRPr sz="1408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17104520" y="4476333"/>
            <a:ext cx="20368200" cy="220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112268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4080"/>
              <a:buChar char="•"/>
              <a:defRPr sz="14080"/>
            </a:lvl1pPr>
            <a:lvl2pPr marL="914400" lvl="1" indent="-101092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2320"/>
              <a:buChar char="•"/>
              <a:defRPr sz="12320"/>
            </a:lvl2pPr>
            <a:lvl3pPr marL="1371600" lvl="2" indent="-89916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0560"/>
              <a:buChar char="•"/>
              <a:defRPr sz="10560"/>
            </a:lvl3pPr>
            <a:lvl4pPr marL="1828800" lvl="3" indent="-7874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8800"/>
              <a:buChar char="•"/>
              <a:defRPr sz="8800"/>
            </a:lvl4pPr>
            <a:lvl5pPr marL="2286000" lvl="4" indent="-7874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8800"/>
              <a:buChar char="•"/>
              <a:defRPr sz="8800"/>
            </a:lvl5pPr>
            <a:lvl6pPr marL="2743200" lvl="5" indent="-7874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8800"/>
              <a:buChar char="•"/>
              <a:defRPr sz="8800"/>
            </a:lvl6pPr>
            <a:lvl7pPr marL="3200400" lvl="6" indent="-7874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8800"/>
              <a:buChar char="•"/>
              <a:defRPr sz="8800"/>
            </a:lvl7pPr>
            <a:lvl8pPr marL="3657600" lvl="7" indent="-7874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8800"/>
              <a:buChar char="•"/>
              <a:defRPr sz="8800"/>
            </a:lvl8pPr>
            <a:lvl9pPr marL="4114800" lvl="8" indent="-7874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8800"/>
              <a:buChar char="•"/>
              <a:defRPr sz="88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2771301" y="9326880"/>
            <a:ext cx="12976500" cy="172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/>
            </a:lvl1pPr>
            <a:lvl2pPr marL="914400" lvl="1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160"/>
              <a:buNone/>
              <a:defRPr sz="6160"/>
            </a:lvl2pPr>
            <a:lvl3pPr marL="1371600" lvl="2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5280"/>
              <a:buNone/>
              <a:defRPr sz="5280"/>
            </a:lvl3pPr>
            <a:lvl4pPr marL="1828800" lvl="3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4pPr>
            <a:lvl5pPr marL="2286000" lvl="4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5pPr>
            <a:lvl6pPr marL="2743200" lvl="5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6pPr>
            <a:lvl7pPr marL="3200400" lvl="6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7pPr>
            <a:lvl8pPr marL="3657600" lvl="7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8pPr>
            <a:lvl9pPr marL="4114800" lvl="8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771301" y="2072640"/>
            <a:ext cx="12976500" cy="72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80"/>
              <a:buFont typeface="Calibri"/>
              <a:buNone/>
              <a:defRPr sz="1408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17104520" y="4476333"/>
            <a:ext cx="20368200" cy="22093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2771301" y="9326880"/>
            <a:ext cx="12976500" cy="172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7040"/>
              <a:buNone/>
              <a:defRPr sz="7040"/>
            </a:lvl1pPr>
            <a:lvl2pPr marL="914400" lvl="1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160"/>
              <a:buNone/>
              <a:defRPr sz="6160"/>
            </a:lvl2pPr>
            <a:lvl3pPr marL="1371600" lvl="2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5280"/>
              <a:buNone/>
              <a:defRPr sz="5280"/>
            </a:lvl3pPr>
            <a:lvl4pPr marL="1828800" lvl="3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4pPr>
            <a:lvl5pPr marL="2286000" lvl="4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5pPr>
            <a:lvl6pPr marL="2743200" lvl="5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6pPr>
            <a:lvl7pPr marL="3200400" lvl="6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7pPr>
            <a:lvl8pPr marL="3657600" lvl="7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8pPr>
            <a:lvl9pPr marL="4114800" lvl="8" indent="-2286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2766060" y="1655240"/>
            <a:ext cx="34701600" cy="60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10253790" y="788317"/>
            <a:ext cx="19725900" cy="347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19956392" y="10490983"/>
            <a:ext cx="26346900" cy="86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2354252" y="2067133"/>
            <a:ext cx="26346900" cy="255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2766060" y="1655240"/>
            <a:ext cx="34701600" cy="60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360"/>
              <a:buFont typeface="Calibri"/>
              <a:buNone/>
              <a:defRPr sz="193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2766060" y="8276167"/>
            <a:ext cx="34701600" cy="197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1010920" algn="l" rtl="0">
              <a:lnSpc>
                <a:spcPct val="90000"/>
              </a:lnSpc>
              <a:spcBef>
                <a:spcPts val="4400"/>
              </a:spcBef>
              <a:spcAft>
                <a:spcPts val="0"/>
              </a:spcAft>
              <a:buClr>
                <a:schemeClr val="dk1"/>
              </a:buClr>
              <a:buSzPts val="12320"/>
              <a:buFont typeface="Arial"/>
              <a:buChar char="•"/>
              <a:defRPr sz="123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89916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0560"/>
              <a:buFont typeface="Arial"/>
              <a:buChar char="•"/>
              <a:defRPr sz="105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78740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Char char="•"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3152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Arial"/>
              <a:buChar char="•"/>
              <a:defRPr sz="7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3152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Arial"/>
              <a:buChar char="•"/>
              <a:defRPr sz="7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3152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Arial"/>
              <a:buChar char="•"/>
              <a:defRPr sz="7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3152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Arial"/>
              <a:buChar char="•"/>
              <a:defRPr sz="7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3152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Arial"/>
              <a:buChar char="•"/>
              <a:defRPr sz="7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3152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Arial"/>
              <a:buChar char="•"/>
              <a:defRPr sz="7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276606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13327380" y="28815460"/>
            <a:ext cx="135789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28414980" y="28815460"/>
            <a:ext cx="90525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0"/>
              <a:buFont typeface="Arial"/>
              <a:buNone/>
              <a:defRPr sz="528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e9ea5d3ff_3_0"/>
          <p:cNvSpPr/>
          <p:nvPr/>
        </p:nvSpPr>
        <p:spPr>
          <a:xfrm>
            <a:off x="100" y="5344092"/>
            <a:ext cx="13405200" cy="257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de9ea5d3ff_3_0"/>
          <p:cNvSpPr/>
          <p:nvPr/>
        </p:nvSpPr>
        <p:spPr>
          <a:xfrm>
            <a:off x="26828500" y="5357596"/>
            <a:ext cx="13405200" cy="2574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de9ea5d3ff_3_0"/>
          <p:cNvSpPr/>
          <p:nvPr/>
        </p:nvSpPr>
        <p:spPr>
          <a:xfrm>
            <a:off x="100" y="0"/>
            <a:ext cx="40233600" cy="5440800"/>
          </a:xfrm>
          <a:prstGeom prst="rect">
            <a:avLst/>
          </a:prstGeom>
          <a:solidFill>
            <a:srgbClr val="F7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g3de9ea5d3ff_3_0"/>
          <p:cNvCxnSpPr/>
          <p:nvPr/>
        </p:nvCxnSpPr>
        <p:spPr>
          <a:xfrm>
            <a:off x="457200" y="13905952"/>
            <a:ext cx="12490800" cy="52500"/>
          </a:xfrm>
          <a:prstGeom prst="straightConnector1">
            <a:avLst/>
          </a:prstGeom>
          <a:noFill/>
          <a:ln w="1143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" name="Google Shape;88;g3de9ea5d3ff_3_0"/>
          <p:cNvCxnSpPr/>
          <p:nvPr/>
        </p:nvCxnSpPr>
        <p:spPr>
          <a:xfrm>
            <a:off x="27348596" y="19159811"/>
            <a:ext cx="12490800" cy="12300"/>
          </a:xfrm>
          <a:prstGeom prst="straightConnector1">
            <a:avLst/>
          </a:prstGeom>
          <a:noFill/>
          <a:ln w="1143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g3de9ea5d3ff_3_0"/>
          <p:cNvSpPr txBox="1"/>
          <p:nvPr/>
        </p:nvSpPr>
        <p:spPr>
          <a:xfrm>
            <a:off x="475500" y="5531932"/>
            <a:ext cx="107010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6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Background</a:t>
            </a:r>
            <a:endParaRPr sz="6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g3de9ea5d3ff_3_0"/>
          <p:cNvSpPr txBox="1"/>
          <p:nvPr/>
        </p:nvSpPr>
        <p:spPr>
          <a:xfrm>
            <a:off x="27257100" y="19203736"/>
            <a:ext cx="13054800" cy="11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6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Technologies &amp; Future Work</a:t>
            </a:r>
            <a:endParaRPr sz="6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3de9ea5d3ff_3_0"/>
          <p:cNvSpPr txBox="1"/>
          <p:nvPr/>
        </p:nvSpPr>
        <p:spPr>
          <a:xfrm>
            <a:off x="604079" y="6620357"/>
            <a:ext cx="12000900" cy="6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Char char="●"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Keen attentiveness to your immediate surroundings, or </a:t>
            </a:r>
            <a:r>
              <a:rPr lang="en-US" sz="5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situational awareness</a:t>
            </a: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is the single most important factor to your survival.</a:t>
            </a:r>
            <a:endParaRPr sz="5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Char char="●"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Modern distractions like smartphones dull your situational awareness skills.</a:t>
            </a:r>
            <a:endParaRPr sz="5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Char char="●"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are currently no systematic, reliable, or engaging methods that exist for teaching or honing this critical skill.</a:t>
            </a:r>
            <a:endParaRPr sz="5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2" name="Google Shape;92;g3de9ea5d3ff_3_0" descr="Android Studio Icon SVG Vector &amp; PNG Free Download | UXW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05016" y="19376800"/>
            <a:ext cx="2015067" cy="20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de9ea5d3ff_3_0"/>
          <p:cNvSpPr txBox="1"/>
          <p:nvPr/>
        </p:nvSpPr>
        <p:spPr>
          <a:xfrm>
            <a:off x="27285800" y="20310996"/>
            <a:ext cx="10346700" cy="57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KIMinder360 was developed with </a:t>
            </a:r>
            <a:r>
              <a:rPr lang="en-US" sz="5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Android Studio.</a:t>
            </a:r>
            <a:endParaRPr sz="5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work will include introducing cloud database functionality for new content on </a:t>
            </a:r>
            <a:r>
              <a:rPr lang="en-US" sz="5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Firebase Cloud</a:t>
            </a: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bringing the app to iOS using </a:t>
            </a:r>
            <a:r>
              <a:rPr lang="en-US" sz="5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Kotlin Multiplatform</a:t>
            </a: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5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4" name="Google Shape;94;g3de9ea5d3ff_3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05003" y="21484177"/>
            <a:ext cx="2015100" cy="2015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95" name="Google Shape;95;g3de9ea5d3ff_3_0"/>
          <p:cNvSpPr txBox="1"/>
          <p:nvPr/>
        </p:nvSpPr>
        <p:spPr>
          <a:xfrm>
            <a:off x="475500" y="14078358"/>
            <a:ext cx="107010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6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endParaRPr sz="6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g3de9ea5d3ff_3_0"/>
          <p:cNvSpPr txBox="1"/>
          <p:nvPr/>
        </p:nvSpPr>
        <p:spPr>
          <a:xfrm>
            <a:off x="475500" y="15226737"/>
            <a:ext cx="12490800" cy="59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Char char="●"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client’s original KIMinder360 program required manual, time consuming phone calls to deliver directives to clients.</a:t>
            </a:r>
            <a:endParaRPr sz="5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Char char="●"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was inaccessible and not easily scalable, so the reach was limited.</a:t>
            </a:r>
            <a:endParaRPr sz="5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Char char="●"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Clients lacked any customization for training.</a:t>
            </a:r>
            <a:endParaRPr sz="5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g3de9ea5d3ff_3_0"/>
          <p:cNvSpPr txBox="1"/>
          <p:nvPr/>
        </p:nvSpPr>
        <p:spPr>
          <a:xfrm>
            <a:off x="475500" y="21874017"/>
            <a:ext cx="124620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6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</a:t>
            </a:r>
            <a:endParaRPr sz="6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g3de9ea5d3ff_3_0"/>
          <p:cNvSpPr txBox="1"/>
          <p:nvPr/>
        </p:nvSpPr>
        <p:spPr>
          <a:xfrm>
            <a:off x="475504" y="23106470"/>
            <a:ext cx="12000900" cy="6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Char char="●"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Delivers a proven awareness training program in a mobile format.</a:t>
            </a:r>
            <a:endParaRPr sz="5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Char char="●"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Automates directive delivery for consistent and convenient use.</a:t>
            </a:r>
            <a:endParaRPr sz="5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Char char="●"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Helps build lasting awareness habits over time.</a:t>
            </a:r>
            <a:endParaRPr sz="5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Char char="●"/>
            </a:pPr>
            <a:r>
              <a:rPr lang="en-US"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Transforms the phone into a tool that keeps awareness training front and center.</a:t>
            </a:r>
            <a:endParaRPr sz="5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3de9ea5d3ff_3_0"/>
          <p:cNvSpPr txBox="1"/>
          <p:nvPr/>
        </p:nvSpPr>
        <p:spPr>
          <a:xfrm>
            <a:off x="27257100" y="5570989"/>
            <a:ext cx="10701000" cy="1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6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Features</a:t>
            </a:r>
            <a:endParaRPr sz="6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00" name="Google Shape;100;g3de9ea5d3ff_3_0"/>
          <p:cNvGrpSpPr/>
          <p:nvPr/>
        </p:nvGrpSpPr>
        <p:grpSpPr>
          <a:xfrm>
            <a:off x="27118675" y="6546053"/>
            <a:ext cx="12000900" cy="3431421"/>
            <a:chOff x="27628825" y="7487328"/>
            <a:chExt cx="12000900" cy="3633440"/>
          </a:xfrm>
        </p:grpSpPr>
        <p:sp>
          <p:nvSpPr>
            <p:cNvPr id="101" name="Google Shape;101;g3de9ea5d3ff_3_0"/>
            <p:cNvSpPr txBox="1"/>
            <p:nvPr/>
          </p:nvSpPr>
          <p:spPr>
            <a:xfrm>
              <a:off x="27628825" y="7487328"/>
              <a:ext cx="12000900" cy="9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457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Helvetica Neue"/>
                <a:buChar char="🔔"/>
              </a:pPr>
              <a:r>
                <a:rPr lang="en-US" sz="5000" b="1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Push notifications</a:t>
              </a:r>
              <a:endParaRPr sz="5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" name="Google Shape;102;g3de9ea5d3ff_3_0"/>
            <p:cNvSpPr txBox="1"/>
            <p:nvPr/>
          </p:nvSpPr>
          <p:spPr>
            <a:xfrm>
              <a:off x="27628825" y="8372144"/>
              <a:ext cx="12000900" cy="93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457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Helvetica Neue"/>
                <a:buChar char="🎲"/>
              </a:pPr>
              <a:r>
                <a:rPr lang="en-US" sz="5000" b="1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Randomized directives and timings</a:t>
              </a:r>
              <a:endParaRPr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" name="Google Shape;103;g3de9ea5d3ff_3_0"/>
            <p:cNvSpPr txBox="1"/>
            <p:nvPr/>
          </p:nvSpPr>
          <p:spPr>
            <a:xfrm>
              <a:off x="27628825" y="9202006"/>
              <a:ext cx="12000900" cy="9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457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Helvetica Neue"/>
                <a:buChar char="🕒"/>
              </a:pPr>
              <a:r>
                <a:rPr lang="en-US" sz="5000" b="1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User-defined “Active Hours”</a:t>
              </a:r>
              <a:endParaRPr sz="5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" name="Google Shape;104;g3de9ea5d3ff_3_0"/>
            <p:cNvSpPr txBox="1"/>
            <p:nvPr/>
          </p:nvSpPr>
          <p:spPr>
            <a:xfrm>
              <a:off x="27628825" y="10077968"/>
              <a:ext cx="12000900" cy="10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457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Helvetica Neue"/>
                <a:buChar char="📁"/>
              </a:pPr>
              <a:r>
                <a:rPr lang="en-US" sz="5000" b="1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Flexible directive categories</a:t>
              </a:r>
              <a:r>
                <a:rPr lang="en-US" sz="5000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5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05" name="Google Shape;105;g3de9ea5d3ff_3_0"/>
          <p:cNvSpPr txBox="1"/>
          <p:nvPr/>
        </p:nvSpPr>
        <p:spPr>
          <a:xfrm>
            <a:off x="14116450" y="5305226"/>
            <a:ext cx="12000900" cy="54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0"/>
              <a:buFont typeface="Arial"/>
              <a:buNone/>
            </a:pPr>
            <a:r>
              <a:rPr lang="en-US" sz="1242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Situational Awareness Will Save Your Life!</a:t>
            </a:r>
            <a:endParaRPr sz="1242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g3de9ea5d3ff_3_0"/>
          <p:cNvSpPr txBox="1"/>
          <p:nvPr/>
        </p:nvSpPr>
        <p:spPr>
          <a:xfrm>
            <a:off x="13742038" y="20461176"/>
            <a:ext cx="12749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 of directive push notifications</a:t>
            </a:r>
            <a:endParaRPr sz="4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7" name="Google Shape;107;g3de9ea5d3ff_3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89500" y="21414377"/>
            <a:ext cx="13054801" cy="9494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g3de9ea5d3ff_3_0"/>
          <p:cNvCxnSpPr/>
          <p:nvPr/>
        </p:nvCxnSpPr>
        <p:spPr>
          <a:xfrm>
            <a:off x="457200" y="21685134"/>
            <a:ext cx="12490800" cy="52500"/>
          </a:xfrm>
          <a:prstGeom prst="straightConnector1">
            <a:avLst/>
          </a:prstGeom>
          <a:noFill/>
          <a:ln w="1143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9" name="Google Shape;109;g3de9ea5d3ff_3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805000" y="23702568"/>
            <a:ext cx="2015100" cy="2015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10" name="Google Shape;110;g3de9ea5d3ff_3_0"/>
          <p:cNvSpPr txBox="1"/>
          <p:nvPr/>
        </p:nvSpPr>
        <p:spPr>
          <a:xfrm>
            <a:off x="27003688" y="18277125"/>
            <a:ext cx="130548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 screenshots: home screen, active hours, categories</a:t>
            </a:r>
            <a:endParaRPr sz="4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g3de9ea5d3ff_3_0"/>
          <p:cNvSpPr txBox="1"/>
          <p:nvPr/>
        </p:nvSpPr>
        <p:spPr>
          <a:xfrm>
            <a:off x="11068381" y="-160992"/>
            <a:ext cx="188130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82"/>
              <a:buFont typeface="Arial"/>
              <a:buNone/>
            </a:pPr>
            <a:r>
              <a:rPr lang="en-US" sz="12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KIMinder360 Mobile App</a:t>
            </a:r>
            <a:endParaRPr sz="125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g3de9ea5d3ff_3_0"/>
          <p:cNvSpPr txBox="1"/>
          <p:nvPr/>
        </p:nvSpPr>
        <p:spPr>
          <a:xfrm>
            <a:off x="683906" y="4279177"/>
            <a:ext cx="4179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5400" b="1" i="0" u="none" strike="noStrike" cap="none">
                <a:solidFill>
                  <a:srgbClr val="00245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Spring 2026</a:t>
            </a:r>
            <a:endParaRPr sz="5400" b="0" i="0" u="none" strike="noStrike" cap="none">
              <a:solidFill>
                <a:srgbClr val="00245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3" name="Google Shape;113;g3de9ea5d3ff_3_0" title="NAU_primary_282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7951" y="375059"/>
            <a:ext cx="5033707" cy="357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g3de9ea5d3ff_3_0"/>
          <p:cNvGrpSpPr/>
          <p:nvPr/>
        </p:nvGrpSpPr>
        <p:grpSpPr>
          <a:xfrm>
            <a:off x="17536813" y="1866219"/>
            <a:ext cx="14124941" cy="3578984"/>
            <a:chOff x="5709409" y="1805654"/>
            <a:chExt cx="14124941" cy="3578984"/>
          </a:xfrm>
        </p:grpSpPr>
        <p:pic>
          <p:nvPicPr>
            <p:cNvPr id="115" name="Google Shape;115;g3de9ea5d3ff_3_0"/>
            <p:cNvPicPr preferRelativeResize="0"/>
            <p:nvPr/>
          </p:nvPicPr>
          <p:blipFill rotWithShape="1">
            <a:blip r:embed="rId8">
              <a:alphaModFix/>
            </a:blip>
            <a:srcRect l="4922" t="6549" r="4931" b="23102"/>
            <a:stretch/>
          </p:blipFill>
          <p:spPr>
            <a:xfrm>
              <a:off x="13271434" y="1805654"/>
              <a:ext cx="2397950" cy="2379964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16" name="Google Shape;116;g3de9ea5d3ff_3_0"/>
            <p:cNvPicPr preferRelativeResize="0"/>
            <p:nvPr/>
          </p:nvPicPr>
          <p:blipFill rotWithShape="1">
            <a:blip r:embed="rId9">
              <a:alphaModFix/>
            </a:blip>
            <a:srcRect t="2678" b="26107"/>
            <a:stretch/>
          </p:blipFill>
          <p:spPr>
            <a:xfrm>
              <a:off x="9494622" y="1805654"/>
              <a:ext cx="2397950" cy="2379964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17" name="Google Shape;117;g3de9ea5d3ff_3_0"/>
            <p:cNvPicPr preferRelativeResize="0"/>
            <p:nvPr/>
          </p:nvPicPr>
          <p:blipFill rotWithShape="1">
            <a:blip r:embed="rId10">
              <a:alphaModFix/>
            </a:blip>
            <a:srcRect l="7294" t="9871" r="7302" b="26071"/>
            <a:stretch/>
          </p:blipFill>
          <p:spPr>
            <a:xfrm>
              <a:off x="17048229" y="1805654"/>
              <a:ext cx="2397950" cy="2379964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18" name="Google Shape;118;g3de9ea5d3ff_3_0"/>
            <p:cNvSpPr txBox="1"/>
            <p:nvPr/>
          </p:nvSpPr>
          <p:spPr>
            <a:xfrm>
              <a:off x="5709425" y="4249138"/>
              <a:ext cx="2397900" cy="113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125" tIns="33050" rIns="66125" bIns="330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73"/>
                <a:buFont typeface="Arial"/>
                <a:buNone/>
              </a:pPr>
              <a: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Dylan Hyer</a:t>
              </a:r>
              <a:endParaRPr sz="3472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73"/>
                <a:buFont typeface="Arial"/>
                <a:buNone/>
              </a:pPr>
              <a: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Lead</a:t>
              </a:r>
              <a:endParaRPr sz="3472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" name="Google Shape;119;g3de9ea5d3ff_3_0"/>
            <p:cNvSpPr txBox="1"/>
            <p:nvPr/>
          </p:nvSpPr>
          <p:spPr>
            <a:xfrm>
              <a:off x="8869000" y="4249138"/>
              <a:ext cx="3649200" cy="113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125" tIns="33050" rIns="66125" bIns="330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73"/>
                <a:buFont typeface="Arial"/>
                <a:buNone/>
              </a:pPr>
              <a: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Nyle Huntley</a:t>
              </a:r>
              <a:endParaRPr sz="3472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73"/>
                <a:buFont typeface="Arial"/>
                <a:buNone/>
              </a:pPr>
              <a: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Release Manager</a:t>
              </a:r>
              <a:endParaRPr sz="3472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" name="Google Shape;120;g3de9ea5d3ff_3_0"/>
            <p:cNvSpPr txBox="1"/>
            <p:nvPr/>
          </p:nvSpPr>
          <p:spPr>
            <a:xfrm>
              <a:off x="13179350" y="4249138"/>
              <a:ext cx="2582100" cy="113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125" tIns="33050" rIns="66125" bIns="330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73"/>
                <a:buFont typeface="Arial"/>
                <a:buNone/>
              </a:pPr>
              <a: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Cole Bishop</a:t>
              </a:r>
              <a:endParaRPr sz="3472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73"/>
                <a:buFont typeface="Arial"/>
                <a:buNone/>
              </a:pPr>
              <a: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Lead Editor</a:t>
              </a:r>
              <a:endParaRPr sz="3472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" name="Google Shape;121;g3de9ea5d3ff_3_0"/>
            <p:cNvSpPr txBox="1"/>
            <p:nvPr/>
          </p:nvSpPr>
          <p:spPr>
            <a:xfrm>
              <a:off x="16660050" y="4249138"/>
              <a:ext cx="3174300" cy="113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125" tIns="33050" rIns="66125" bIns="330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73"/>
                <a:buFont typeface="Arial"/>
                <a:buNone/>
              </a:pPr>
              <a: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Mayanna John</a:t>
              </a:r>
              <a:endParaRPr sz="3472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73"/>
                <a:buFont typeface="Arial"/>
                <a:buNone/>
              </a:pPr>
              <a: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Architect</a:t>
              </a:r>
              <a:endParaRPr sz="3472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22" name="Google Shape;122;g3de9ea5d3ff_3_0"/>
            <p:cNvPicPr preferRelativeResize="0"/>
            <p:nvPr/>
          </p:nvPicPr>
          <p:blipFill rotWithShape="1">
            <a:blip r:embed="rId11">
              <a:alphaModFix/>
            </a:blip>
            <a:srcRect l="22365" t="20294" r="26173" b="27022"/>
            <a:stretch/>
          </p:blipFill>
          <p:spPr>
            <a:xfrm>
              <a:off x="5709409" y="1805654"/>
              <a:ext cx="2397950" cy="2379951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cxnSp>
        <p:nvCxnSpPr>
          <p:cNvPr id="123" name="Google Shape;123;g3de9ea5d3ff_3_0"/>
          <p:cNvCxnSpPr/>
          <p:nvPr/>
        </p:nvCxnSpPr>
        <p:spPr>
          <a:xfrm>
            <a:off x="27285696" y="25970077"/>
            <a:ext cx="12490800" cy="12300"/>
          </a:xfrm>
          <a:prstGeom prst="straightConnector1">
            <a:avLst/>
          </a:prstGeom>
          <a:noFill/>
          <a:ln w="1143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g3de9ea5d3ff_3_0"/>
          <p:cNvSpPr txBox="1"/>
          <p:nvPr/>
        </p:nvSpPr>
        <p:spPr>
          <a:xfrm>
            <a:off x="6345278" y="1514182"/>
            <a:ext cx="14147400" cy="384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5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Situational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5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Awareness Training</a:t>
            </a:r>
            <a:endParaRPr sz="5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Client: 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Morgan Boatman,</a:t>
            </a:r>
            <a:endParaRPr sz="4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Winter Communication, LLC</a:t>
            </a:r>
            <a:endParaRPr sz="4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Mentor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Md Nazmul Hossain</a:t>
            </a:r>
            <a:endParaRPr sz="48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25" name="Google Shape;125;g3de9ea5d3ff_3_0"/>
          <p:cNvGrpSpPr/>
          <p:nvPr/>
        </p:nvGrpSpPr>
        <p:grpSpPr>
          <a:xfrm>
            <a:off x="31308555" y="1834093"/>
            <a:ext cx="3807000" cy="3609905"/>
            <a:chOff x="31135289" y="1573264"/>
            <a:chExt cx="3807000" cy="3609905"/>
          </a:xfrm>
        </p:grpSpPr>
        <p:pic>
          <p:nvPicPr>
            <p:cNvPr id="126" name="Google Shape;126;g3de9ea5d3ff_3_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31883875" y="1573264"/>
              <a:ext cx="2397950" cy="237744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27" name="Google Shape;127;g3de9ea5d3ff_3_0"/>
            <p:cNvSpPr txBox="1"/>
            <p:nvPr/>
          </p:nvSpPr>
          <p:spPr>
            <a:xfrm>
              <a:off x="31135289" y="4047798"/>
              <a:ext cx="3807000" cy="11353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125" tIns="33050" rIns="66125" bIns="330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73"/>
                <a:buFont typeface="Arial"/>
                <a:buNone/>
              </a:pPr>
              <a: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Visit Our </a:t>
              </a:r>
              <a:b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</a:br>
              <a:r>
                <a:rPr lang="en-US" sz="3472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Website</a:t>
              </a:r>
              <a:endParaRPr sz="3472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28" name="Google Shape;128;g3de9ea5d3ff_3_0" title="kiminder360_triangle_logo_whit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273879" y="450159"/>
            <a:ext cx="4521300" cy="4521300"/>
          </a:xfrm>
          <a:prstGeom prst="roundRect">
            <a:avLst>
              <a:gd name="adj" fmla="val 16667"/>
            </a:avLst>
          </a:prstGeom>
          <a:noFill/>
          <a:ln w="1143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9" name="Google Shape;129;g3de9ea5d3ff_3_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1504049" y="10129697"/>
            <a:ext cx="4179901" cy="8182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de9ea5d3ff_3_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5889424" y="10129697"/>
            <a:ext cx="4179901" cy="8182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de9ea5d3ff_3_0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7118675" y="10129700"/>
            <a:ext cx="4179899" cy="8182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de9ea5d3ff_3_0"/>
          <p:cNvPicPr preferRelativeResize="0"/>
          <p:nvPr/>
        </p:nvPicPr>
        <p:blipFill rotWithShape="1">
          <a:blip r:embed="rId17">
            <a:alphaModFix/>
          </a:blip>
          <a:srcRect l="1983" t="2407" r="1771" b="3564"/>
          <a:stretch/>
        </p:blipFill>
        <p:spPr>
          <a:xfrm>
            <a:off x="14281541" y="16133023"/>
            <a:ext cx="11670718" cy="432816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de9ea5d3ff_3_0"/>
          <p:cNvSpPr txBox="1"/>
          <p:nvPr/>
        </p:nvSpPr>
        <p:spPr>
          <a:xfrm>
            <a:off x="27257100" y="25997839"/>
            <a:ext cx="10701000" cy="11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6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Outcomes</a:t>
            </a:r>
            <a:endParaRPr sz="6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4" name="Google Shape;134;g3de9ea5d3ff_3_0" title="Adobe Express - file.png"/>
          <p:cNvPicPr preferRelativeResize="0"/>
          <p:nvPr/>
        </p:nvPicPr>
        <p:blipFill rotWithShape="1">
          <a:blip r:embed="rId18">
            <a:alphaModFix/>
          </a:blip>
          <a:srcRect l="1688" t="3567" r="2388" b="2563"/>
          <a:stretch/>
        </p:blipFill>
        <p:spPr>
          <a:xfrm>
            <a:off x="14281562" y="10976916"/>
            <a:ext cx="11670699" cy="49540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g3de9ea5d3ff_3_0"/>
          <p:cNvGraphicFramePr/>
          <p:nvPr/>
        </p:nvGraphicFramePr>
        <p:xfrm>
          <a:off x="27285696" y="27192026"/>
          <a:ext cx="12490800" cy="3599640"/>
        </p:xfrm>
        <a:graphic>
          <a:graphicData uri="http://schemas.openxmlformats.org/drawingml/2006/table">
            <a:tbl>
              <a:tblPr firstRow="1" bandRow="1">
                <a:noFill/>
                <a:tableStyleId>{2E738758-5190-4454-8C67-BF0E4FDED981}</a:tableStyleId>
              </a:tblPr>
              <a:tblGrid>
                <a:gridCol w="604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b="1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Before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b="1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After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Training process managed manually</a:t>
                      </a:r>
                      <a:endParaRPr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Automated training process</a:t>
                      </a:r>
                      <a:endParaRPr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Limited outreach</a:t>
                      </a:r>
                      <a:endParaRPr sz="48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Broader outreach</a:t>
                      </a:r>
                      <a:endParaRPr/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266</Words>
  <Application>Microsoft Office PowerPoint</Application>
  <PresentationFormat>Custom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Helvetica Neue</vt:lpstr>
      <vt:lpstr>Calibri</vt:lpstr>
      <vt:lpstr>Arial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Cole David Bishop</cp:lastModifiedBy>
  <cp:revision>2</cp:revision>
  <dcterms:created xsi:type="dcterms:W3CDTF">2018-10-09T15:34:40Z</dcterms:created>
  <dcterms:modified xsi:type="dcterms:W3CDTF">2026-04-16T23:13:24Z</dcterms:modified>
</cp:coreProperties>
</file>